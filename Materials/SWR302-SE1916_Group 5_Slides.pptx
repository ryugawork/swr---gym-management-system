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7" r:id="rId4"/>
    <p:sldId id="278" r:id="rId5"/>
    <p:sldId id="259" r:id="rId6"/>
    <p:sldId id="279" r:id="rId7"/>
    <p:sldId id="260" r:id="rId8"/>
    <p:sldId id="280" r:id="rId9"/>
    <p:sldId id="281" r:id="rId10"/>
    <p:sldId id="282" r:id="rId11"/>
    <p:sldId id="261" r:id="rId12"/>
    <p:sldId id="262" r:id="rId13"/>
    <p:sldId id="283" r:id="rId14"/>
    <p:sldId id="286" r:id="rId15"/>
    <p:sldId id="284" r:id="rId16"/>
    <p:sldId id="285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276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26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77C96-C8A7-DCD9-1A02-74ED8C94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7FF52-FAAA-2462-872B-BD5493FCC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441C4-AAA0-8E29-8434-44FA4002C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BB115-91E2-D882-8005-EF78FF6B7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3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E4FB-493D-D297-1ABA-EF5CB58C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3E22F-E447-DF89-5107-321C024EA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971B6-9B6F-3D36-FA43-56D892B11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F70B8-5C1B-E7D4-170B-680AED78C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72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0CB1-FB4B-F9CF-4018-D7EF8907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8E114-C721-670C-B377-5B9F2329E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D1A2E-A528-9377-4866-B563AE73A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891E7-D848-67AB-7BC7-C632506E8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82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A966-22C6-ADF6-F203-A62C4B0A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F0C4D-165B-71B0-52B7-9FC3A1D2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540A3-FBB9-5641-1624-C9566EB68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103BA-86E3-0492-9A09-B1552A2DF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7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BC51-410C-C295-350F-1607B5B1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465C1-631D-C2D4-1B3A-5B19E3D99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9E4D9-AD7B-E67F-1A25-113E459C9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A6ED6-473E-9907-C1FE-EF570263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77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59179-55F2-C4D2-61F0-D5F69F48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ACB4-EDB4-E866-9D2E-86237461F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23C91-86FC-55EA-5F5C-00A516664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69FEC-6AD4-99D7-46C7-98E2D6A84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0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0E6E3-51EE-BEE7-9CA4-D8B4E6E9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0562D-CEB8-2771-C044-AB36956C9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E3E24-400A-8B7B-D4A5-F8350061E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1B1C9-6337-9BBF-8429-4AD13C6C9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9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3385-CDF8-0E27-32D9-F4C0FC59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11BA8-474E-9A21-CE59-71AEE2CA2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33A55-3B60-C362-8DF6-C8BB9403D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6907-FC38-0719-8455-DC8E2739F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84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A7E0-C8A6-5F70-69A4-F9BC88A4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7C33E-7F03-BB3A-6B5F-8ED87BD1A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4C864-7C23-D60C-FFF8-8A2C600F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841B-8F31-1BD1-A765-96B6820CA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64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F749-EF08-2208-23BE-95B8FCD1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B50B9-96FE-26A9-EFF7-489A30C06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87801-838C-F0FE-887E-19A7A68CA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F26A5-8C97-FA93-5852-8052275A7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4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4119-8158-337A-A551-EB66BFEB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921D0-9A14-A23A-B6B7-C089807FC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B8D62-963D-7682-ED91-90FFCC312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DD5F2-84A0-09F8-B279-7A55A9FD9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6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C9290-A5B6-2474-F581-123FF81046EF}"/>
              </a:ext>
            </a:extLst>
          </p:cNvPr>
          <p:cNvSpPr/>
          <p:nvPr/>
        </p:nvSpPr>
        <p:spPr>
          <a:xfrm>
            <a:off x="-414238" y="-9179"/>
            <a:ext cx="5189438" cy="686717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12724" y="1435100"/>
            <a:ext cx="386032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chemeClr val="bg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Gym Management</a:t>
            </a:r>
            <a:endParaRPr lang="en-US" sz="3600" dirty="0">
              <a:solidFill>
                <a:schemeClr val="bg2"/>
              </a:solidFill>
            </a:endParaRPr>
          </a:p>
          <a:p>
            <a:r>
              <a:rPr lang="en-US" sz="3600" b="1" dirty="0">
                <a:solidFill>
                  <a:schemeClr val="bg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3108960"/>
            <a:ext cx="24511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SWR302 – GROUP 5</a:t>
            </a:r>
            <a:endParaRPr lang="en-US" sz="2000" noProof="1"/>
          </a:p>
        </p:txBody>
      </p:sp>
      <p:sp>
        <p:nvSpPr>
          <p:cNvPr id="4" name="Text 2"/>
          <p:cNvSpPr/>
          <p:nvPr/>
        </p:nvSpPr>
        <p:spPr>
          <a:xfrm>
            <a:off x="6941504" y="571500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Trần Đăng Khoa, Bùi Đình Long</a:t>
            </a:r>
            <a:endParaRPr lang="en-US" sz="1250" b="1" noProof="1"/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Trần Chí Viễn</a:t>
            </a:r>
            <a:endParaRPr lang="en-US" sz="1250" noProof="1"/>
          </a:p>
        </p:txBody>
      </p:sp>
      <p:sp>
        <p:nvSpPr>
          <p:cNvPr id="8" name="Text 6"/>
          <p:cNvSpPr/>
          <p:nvPr/>
        </p:nvSpPr>
        <p:spPr>
          <a:xfrm>
            <a:off x="701040" y="62636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900" noProof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B3E397-EE3F-D7D1-195F-6316A93A5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310770"/>
            <a:ext cx="2356685" cy="920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58BEEF-3B45-64FF-FDCA-5ADB5710D1BC}"/>
              </a:ext>
            </a:extLst>
          </p:cNvPr>
          <p:cNvSpPr txBox="1"/>
          <p:nvPr/>
        </p:nvSpPr>
        <p:spPr>
          <a:xfrm>
            <a:off x="2244939" y="2543591"/>
            <a:ext cx="1654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BRD Presentation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79EE23-7E15-C4DF-9F20-A79A9149E448}"/>
              </a:ext>
            </a:extLst>
          </p:cNvPr>
          <p:cNvGrpSpPr/>
          <p:nvPr/>
        </p:nvGrpSpPr>
        <p:grpSpPr>
          <a:xfrm>
            <a:off x="5431355" y="874395"/>
            <a:ext cx="6252645" cy="4089889"/>
            <a:chOff x="5997158" y="960120"/>
            <a:chExt cx="5686842" cy="4089889"/>
          </a:xfrm>
        </p:grpSpPr>
        <p:sp>
          <p:nvSpPr>
            <p:cNvPr id="5" name="Shape 3"/>
            <p:cNvSpPr/>
            <p:nvPr/>
          </p:nvSpPr>
          <p:spPr>
            <a:xfrm>
              <a:off x="5997158" y="960120"/>
              <a:ext cx="5686842" cy="408988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  <p:txBody>
            <a:bodyPr/>
            <a:lstStyle/>
            <a:p>
              <a:endParaRPr lang="en-US" noProof="1"/>
            </a:p>
          </p:txBody>
        </p:sp>
        <p:pic>
          <p:nvPicPr>
            <p:cNvPr id="15" name="Image 0">
              <a:extLst>
                <a:ext uri="{FF2B5EF4-FFF2-40B4-BE49-F238E27FC236}">
                  <a16:creationId xmlns:a16="http://schemas.microsoft.com/office/drawing/2014/main" id="{A4305A19-774F-6450-C8B0-E63474A45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04" t="1" r="-138" b="-1008"/>
            <a:stretch>
              <a:fillRect/>
            </a:stretch>
          </p:blipFill>
          <p:spPr>
            <a:xfrm>
              <a:off x="6061307" y="1030751"/>
              <a:ext cx="5558543" cy="40192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Members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 and presentation coverage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1882-743C-6DFB-2881-ABCEC2B9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C1F5E9-FA58-3CD5-ECA8-ADC384D24066}"/>
              </a:ext>
            </a:extLst>
          </p:cNvPr>
          <p:cNvSpPr txBox="1"/>
          <p:nvPr/>
        </p:nvSpPr>
        <p:spPr>
          <a:xfrm>
            <a:off x="487680" y="1338212"/>
            <a:ext cx="57576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1">
                <a:solidFill>
                  <a:srgbClr val="0070C0"/>
                </a:solidFill>
              </a:rPr>
              <a:t>SE201643 Bùi Đình Long 	</a:t>
            </a:r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BRD Integration</a:t>
            </a:r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Remaining Sections</a:t>
            </a:r>
            <a:endParaRPr lang="en-US" sz="1600" dirty="0"/>
          </a:p>
          <a:p>
            <a:pPr algn="r"/>
            <a:endParaRPr lang="en-US" sz="1600" noProof="1"/>
          </a:p>
          <a:p>
            <a:r>
              <a:rPr lang="en-US" sz="1600" b="1" noProof="1"/>
              <a:t>SE201631 Nguyễn Sỹ Minh Mẫn</a:t>
            </a:r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DFD, Data Dictionary</a:t>
            </a:r>
            <a:endParaRPr lang="en-US" sz="1600" dirty="0"/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Prototype</a:t>
            </a:r>
          </a:p>
          <a:p>
            <a:pPr algn="r"/>
            <a:endParaRPr lang="en-US" sz="1600" noProof="1"/>
          </a:p>
          <a:p>
            <a:r>
              <a:rPr lang="en-US" sz="1600" b="1" noProof="1"/>
              <a:t>SE201635 Trần Đăng Khoa</a:t>
            </a:r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Use Case Diagram </a:t>
            </a:r>
          </a:p>
          <a:p>
            <a:pPr algn="r"/>
            <a:r>
              <a:rPr lang="en-US" sz="1600" dirty="0">
                <a:solidFill>
                  <a:srgbClr val="1F2937"/>
                </a:solidFill>
              </a:rPr>
              <a:t>Use Case Specification</a:t>
            </a:r>
            <a:endParaRPr lang="en-US" sz="1600" dirty="0"/>
          </a:p>
          <a:p>
            <a:endParaRPr lang="en-US" sz="1600" noProof="1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325FDB6D-D0B2-4283-FA0E-B4C77689DB09}"/>
              </a:ext>
            </a:extLst>
          </p:cNvPr>
          <p:cNvSpPr/>
          <p:nvPr/>
        </p:nvSpPr>
        <p:spPr>
          <a:xfrm>
            <a:off x="4778807" y="1328164"/>
            <a:ext cx="2124913" cy="408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role &amp; sub role</a:t>
            </a:r>
            <a:endParaRPr lang="en-US" sz="1250" noProof="1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1566CCE-831B-2156-F5CE-5F5FFBDA90F8}"/>
              </a:ext>
            </a:extLst>
          </p:cNvPr>
          <p:cNvSpPr/>
          <p:nvPr/>
        </p:nvSpPr>
        <p:spPr>
          <a:xfrm>
            <a:off x="6995160" y="131178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SWR302 BRD – Group 5</a:t>
            </a:r>
            <a:endParaRPr lang="en-US" sz="2000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DDA2C-C024-1E6E-DF11-11DD014EEED0}"/>
              </a:ext>
            </a:extLst>
          </p:cNvPr>
          <p:cNvSpPr txBox="1"/>
          <p:nvPr/>
        </p:nvSpPr>
        <p:spPr>
          <a:xfrm>
            <a:off x="388144" y="4076142"/>
            <a:ext cx="61483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2033"/>
                </a:solidFill>
              </a:rPr>
              <a:t>Presentation coverage</a:t>
            </a:r>
            <a:endParaRPr lang="en-US" sz="22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AE530C26-02E8-A004-D6DD-B8F27886F96B}"/>
              </a:ext>
            </a:extLst>
          </p:cNvPr>
          <p:cNvSpPr/>
          <p:nvPr/>
        </p:nvSpPr>
        <p:spPr>
          <a:xfrm>
            <a:off x="530352" y="4033647"/>
            <a:ext cx="3474720" cy="2221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Problem and scope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Actors and use cases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Business processes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DFD and data design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State transitions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1F2937"/>
                </a:solidFill>
              </a:rPr>
              <a:t>Prototype demonstration</a:t>
            </a:r>
            <a:endParaRPr lang="en-US" sz="13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0C6073-2ADD-F636-6D41-7E1C32198C0F}"/>
              </a:ext>
            </a:extLst>
          </p:cNvPr>
          <p:cNvGrpSpPr/>
          <p:nvPr/>
        </p:nvGrpSpPr>
        <p:grpSpPr>
          <a:xfrm>
            <a:off x="6995160" y="1732788"/>
            <a:ext cx="4663440" cy="4160520"/>
            <a:chOff x="6995160" y="1732788"/>
            <a:chExt cx="4663440" cy="4160520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7DC5212C-AAB7-1F91-2CBE-DDFBA201EA9B}"/>
                </a:ext>
              </a:extLst>
            </p:cNvPr>
            <p:cNvSpPr/>
            <p:nvPr/>
          </p:nvSpPr>
          <p:spPr>
            <a:xfrm>
              <a:off x="6995160" y="1732788"/>
              <a:ext cx="4663440" cy="41605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  <p:txBody>
            <a:bodyPr/>
            <a:lstStyle/>
            <a:p>
              <a:endParaRPr lang="en-US" noProof="1"/>
            </a:p>
          </p:txBody>
        </p:sp>
        <p:pic>
          <p:nvPicPr>
            <p:cNvPr id="14" name="Image 0" descr="/mnt/data/gym_assets/UMLs/ContextDiagram.png">
              <a:extLst>
                <a:ext uri="{FF2B5EF4-FFF2-40B4-BE49-F238E27FC236}">
                  <a16:creationId xmlns:a16="http://schemas.microsoft.com/office/drawing/2014/main" id="{5AF6A217-2C68-2A14-A10E-C96391268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" r="-1" b="-208"/>
            <a:stretch>
              <a:fillRect/>
            </a:stretch>
          </p:blipFill>
          <p:spPr>
            <a:xfrm>
              <a:off x="7084695" y="1864611"/>
              <a:ext cx="4488180" cy="3910497"/>
            </a:xfrm>
            <a:prstGeom prst="rect">
              <a:avLst/>
            </a:prstGeom>
          </p:spPr>
        </p:pic>
      </p:grpSp>
      <p:pic>
        <p:nvPicPr>
          <p:cNvPr id="18" name="Picture 17" descr="Gym Management - Ứng dụng trên Google Play">
            <a:extLst>
              <a:ext uri="{FF2B5EF4-FFF2-40B4-BE49-F238E27FC236}">
                <a16:creationId xmlns:a16="http://schemas.microsoft.com/office/drawing/2014/main" id="{DEAC1EAC-6728-0364-9BFC-33D3426B8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695" y="1774698"/>
            <a:ext cx="451866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BC33-EA71-B4B9-E78F-5E127C5C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D33E0F-965C-0527-09D6-EE28479F1FF3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200" b="1" dirty="0">
                <a:latin typeface="+mj-lt"/>
                <a:ea typeface="Aptos Display" pitchFamily="34" charset="-122"/>
                <a:cs typeface="Aptos Display" pitchFamily="34" charset="-120"/>
              </a:rPr>
              <a:t>Background / Problem Context</a:t>
            </a:r>
            <a:endParaRPr lang="en-US" sz="320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815FD0-A0EE-62FF-80F6-4621C33BCB56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is this system needed?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2BF82B-F540-B81A-191B-97F20175DBB3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FA1B10-0940-2443-66BA-AC93BC58BE98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26C73B-98D6-2988-2285-73728975A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CC9EBD6-6C65-1556-3481-AB4727EE3096}"/>
              </a:ext>
            </a:extLst>
          </p:cNvPr>
          <p:cNvSpPr/>
          <p:nvPr/>
        </p:nvSpPr>
        <p:spPr>
          <a:xfrm>
            <a:off x="530352" y="1426465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52033"/>
                </a:solidFill>
              </a:rPr>
              <a:t>Typical gym operations are fragmented across front desk, PT service, check-in, notifications, and reporting.</a:t>
            </a:r>
            <a:endParaRPr lang="en-US" sz="2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87BEDA0-1145-4D3E-9025-59FBAE6F06AB}"/>
              </a:ext>
            </a:extLst>
          </p:cNvPr>
          <p:cNvSpPr/>
          <p:nvPr/>
        </p:nvSpPr>
        <p:spPr>
          <a:xfrm>
            <a:off x="502919" y="2659136"/>
            <a:ext cx="6096289" cy="23078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Membership data is managed </a:t>
            </a:r>
            <a:r>
              <a:rPr lang="en-US" sz="1600" b="1" dirty="0">
                <a:solidFill>
                  <a:srgbClr val="1F2937"/>
                </a:solidFill>
              </a:rPr>
              <a:t>manually</a:t>
            </a:r>
            <a:r>
              <a:rPr lang="en-US" sz="1600" dirty="0">
                <a:solidFill>
                  <a:srgbClr val="1F2937"/>
                </a:solidFill>
              </a:rPr>
              <a:t> or </a:t>
            </a:r>
            <a:r>
              <a:rPr lang="en-US" sz="1600" b="1" dirty="0">
                <a:solidFill>
                  <a:srgbClr val="1F2937"/>
                </a:solidFill>
              </a:rPr>
              <a:t>inconsistently</a:t>
            </a:r>
            <a:r>
              <a:rPr lang="en-US" sz="1600" dirty="0">
                <a:solidFill>
                  <a:srgbClr val="1F2937"/>
                </a:solidFill>
              </a:rPr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PT booking and training schedules are </a:t>
            </a:r>
            <a:r>
              <a:rPr lang="en-US" sz="1600" b="1" dirty="0">
                <a:solidFill>
                  <a:srgbClr val="1F2937"/>
                </a:solidFill>
              </a:rPr>
              <a:t>difficult to track</a:t>
            </a:r>
            <a:r>
              <a:rPr lang="en-US" sz="1600" dirty="0">
                <a:solidFill>
                  <a:srgbClr val="1F2937"/>
                </a:solidFill>
              </a:rPr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Check-in/check-out records are </a:t>
            </a:r>
            <a:r>
              <a:rPr lang="en-US" sz="1600" b="1" dirty="0">
                <a:solidFill>
                  <a:srgbClr val="1F2937"/>
                </a:solidFill>
              </a:rPr>
              <a:t>hard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b="1" dirty="0">
                <a:solidFill>
                  <a:srgbClr val="1F2937"/>
                </a:solidFill>
              </a:rPr>
              <a:t>to consolidate</a:t>
            </a:r>
            <a:r>
              <a:rPr lang="en-US" sz="1600" dirty="0">
                <a:solidFill>
                  <a:srgbClr val="1F2937"/>
                </a:solidFill>
              </a:rPr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Notifications and reports are </a:t>
            </a:r>
            <a:r>
              <a:rPr lang="en-US" sz="1600" b="1" dirty="0">
                <a:solidFill>
                  <a:srgbClr val="1F2937"/>
                </a:solidFill>
              </a:rPr>
              <a:t>not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b="1" dirty="0">
                <a:solidFill>
                  <a:srgbClr val="1F2937"/>
                </a:solidFill>
              </a:rPr>
              <a:t>centralized</a:t>
            </a:r>
            <a:r>
              <a:rPr lang="en-US" sz="1600" dirty="0">
                <a:solidFill>
                  <a:srgbClr val="1F2937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D0DD967C-9C14-0969-5FD2-11769D4238F9}"/>
              </a:ext>
            </a:extLst>
          </p:cNvPr>
          <p:cNvSpPr/>
          <p:nvPr/>
        </p:nvSpPr>
        <p:spPr>
          <a:xfrm>
            <a:off x="6492240" y="1417320"/>
            <a:ext cx="4983480" cy="3794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pic>
        <p:nvPicPr>
          <p:cNvPr id="20" name="Picture 19" descr="Review 10 Phòng Tập Gym Hà Nội được Yêu Thích Nhất">
            <a:extLst>
              <a:ext uri="{FF2B5EF4-FFF2-40B4-BE49-F238E27FC236}">
                <a16:creationId xmlns:a16="http://schemas.microsoft.com/office/drawing/2014/main" id="{268F3B5F-5DCF-0C9C-1FA4-72857273D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08" y="1527048"/>
            <a:ext cx="4813539" cy="361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7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5395-C9BD-3661-E21B-486B9181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E482F1-EF3E-B48B-D4CE-1ED0293158C1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of the Traditional System</a:t>
            </a:r>
            <a:endParaRPr lang="en-US" sz="300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277111-9AAE-DF73-BD51-0D344645001A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C4DE9C-1570-E0D9-2402-F92054AFC68B}"/>
              </a:ext>
            </a:extLst>
          </p:cNvPr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Process</a:t>
            </a:r>
            <a:endParaRPr lang="en-US" sz="180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FD9B82-4EB1-443B-1034-F48A757121DC}"/>
              </a:ext>
            </a:extLst>
          </p:cNvPr>
          <p:cNvSpPr/>
          <p:nvPr/>
        </p:nvSpPr>
        <p:spPr>
          <a:xfrm>
            <a:off x="73152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Counter-only records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Manual schedule coordination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No reliable visit history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Separated notification channels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Delayed operational reports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656423-720B-98F3-D9BC-070503CC489F}"/>
              </a:ext>
            </a:extLst>
          </p:cNvPr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C16C8F-B92D-2168-3218-71429B73D538}"/>
              </a:ext>
            </a:extLst>
          </p:cNvPr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Caused</a:t>
            </a:r>
            <a:endParaRPr lang="en-US" sz="18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72D64A-6A17-42D0-1D54-CD5B57C2BC2D}"/>
              </a:ext>
            </a:extLst>
          </p:cNvPr>
          <p:cNvSpPr/>
          <p:nvPr/>
        </p:nvSpPr>
        <p:spPr>
          <a:xfrm>
            <a:off x="635508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Data inconsistency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Missed or conflicting PT sessions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Weak access traceability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Low communication control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Slow business decisions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E569FC0-3015-CD3B-9528-95BC6C8BA9C3}"/>
              </a:ext>
            </a:extLst>
          </p:cNvPr>
          <p:cNvSpPr/>
          <p:nvPr/>
        </p:nvSpPr>
        <p:spPr>
          <a:xfrm>
            <a:off x="457200" y="600608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+mj-lt"/>
              </a:rPr>
              <a:t>Main message: automation + centralized data are required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4EE834F-28E2-E508-1AB1-6C4B2D876009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C08F3-5A75-B548-8482-DB58675D1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8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 and Scope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can the proposed system do?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69D156-12D4-D183-F1A6-BDC03628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D286DA-BFFC-5245-5801-6CEC019EBE5D}"/>
              </a:ext>
            </a:extLst>
          </p:cNvPr>
          <p:cNvSpPr txBox="1"/>
          <p:nvPr/>
        </p:nvSpPr>
        <p:spPr>
          <a:xfrm>
            <a:off x="457203" y="1681902"/>
            <a:ext cx="53277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Manage customer and PT accounts.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Register and activate memberships at the counter.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Manage PT packages, booking, and schedules.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Support QR check-in/check-out.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Publish notifications and generate reports.</a:t>
            </a:r>
            <a:endParaRPr lang="en-US" sz="16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46E6C50-3982-1E63-B3DB-37949A5D6FCF}"/>
              </a:ext>
            </a:extLst>
          </p:cNvPr>
          <p:cNvSpPr/>
          <p:nvPr/>
        </p:nvSpPr>
        <p:spPr>
          <a:xfrm>
            <a:off x="77724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noProof="1">
                <a:solidFill>
                  <a:srgbClr val="1F77B4"/>
                </a:solidFill>
                <a:latin typeface="Montserrat" pitchFamily="34" charset="0"/>
              </a:rPr>
              <a:t>Customer</a:t>
            </a:r>
            <a:endParaRPr lang="en-US" sz="1800" noProof="1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E5D5988A-7E5C-4A5A-2543-0F83978A2CBD}"/>
              </a:ext>
            </a:extLst>
          </p:cNvPr>
          <p:cNvSpPr/>
          <p:nvPr/>
        </p:nvSpPr>
        <p:spPr>
          <a:xfrm>
            <a:off x="4023362" y="4612732"/>
            <a:ext cx="0" cy="1357503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FCF11B69-4A45-BE21-872D-A860EFD6EF6A}"/>
              </a:ext>
            </a:extLst>
          </p:cNvPr>
          <p:cNvSpPr/>
          <p:nvPr/>
        </p:nvSpPr>
        <p:spPr>
          <a:xfrm>
            <a:off x="434340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Trainer</a:t>
            </a:r>
            <a:endParaRPr lang="en-US" sz="1800" noProof="1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6580AB3D-9D73-D788-7FD1-BC6D7A27541D}"/>
              </a:ext>
            </a:extLst>
          </p:cNvPr>
          <p:cNvSpPr/>
          <p:nvPr/>
        </p:nvSpPr>
        <p:spPr>
          <a:xfrm>
            <a:off x="7589522" y="4612731"/>
            <a:ext cx="0" cy="1357503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4A6BA935-F62F-7AF3-B6F3-CB094563E815}"/>
              </a:ext>
            </a:extLst>
          </p:cNvPr>
          <p:cNvSpPr/>
          <p:nvPr/>
        </p:nvSpPr>
        <p:spPr>
          <a:xfrm>
            <a:off x="790956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 Owner</a:t>
            </a:r>
            <a:endParaRPr lang="en-US" sz="1800" noProof="1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EE7F076A-8D6E-FD22-03FA-425AA7DE4461}"/>
              </a:ext>
            </a:extLst>
          </p:cNvPr>
          <p:cNvSpPr/>
          <p:nvPr/>
        </p:nvSpPr>
        <p:spPr>
          <a:xfrm>
            <a:off x="502919" y="6071200"/>
            <a:ext cx="11064243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416DFF33-67B9-3C23-4511-5A65598DA2CC}"/>
              </a:ext>
            </a:extLst>
          </p:cNvPr>
          <p:cNvSpPr/>
          <p:nvPr/>
        </p:nvSpPr>
        <p:spPr>
          <a:xfrm>
            <a:off x="502919" y="4505177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5FF9EC7-AFAA-C4BA-C5C0-548D34D1AEE2}"/>
              </a:ext>
            </a:extLst>
          </p:cNvPr>
          <p:cNvSpPr/>
          <p:nvPr/>
        </p:nvSpPr>
        <p:spPr>
          <a:xfrm>
            <a:off x="530352" y="1275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800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B223E-874D-502C-A25D-9A4103A2C64A}"/>
              </a:ext>
            </a:extLst>
          </p:cNvPr>
          <p:cNvSpPr txBox="1"/>
          <p:nvPr/>
        </p:nvSpPr>
        <p:spPr>
          <a:xfrm>
            <a:off x="6407021" y="1681902"/>
            <a:ext cx="609755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Online payment processing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Membership renewal, suspension, or cancellation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Payroll, inventory, and equipment management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Mobile application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Advanced prediction or analytics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A70E5A2-DC35-8A58-C5BA-B80DC9FAA18F}"/>
              </a:ext>
            </a:extLst>
          </p:cNvPr>
          <p:cNvSpPr/>
          <p:nvPr/>
        </p:nvSpPr>
        <p:spPr>
          <a:xfrm>
            <a:off x="6505054" y="130818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 of Scope</a:t>
            </a:r>
            <a:endParaRPr lang="en-US" sz="1800" noProof="1">
              <a:solidFill>
                <a:srgbClr val="FF0000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5E89250-57F4-54A2-9AAE-77B58239D65C}"/>
              </a:ext>
            </a:extLst>
          </p:cNvPr>
          <p:cNvGrpSpPr/>
          <p:nvPr/>
        </p:nvGrpSpPr>
        <p:grpSpPr>
          <a:xfrm>
            <a:off x="761498" y="4905340"/>
            <a:ext cx="1234440" cy="393192"/>
            <a:chOff x="621792" y="3369280"/>
            <a:chExt cx="1234440" cy="393192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5B793017-4D37-28FE-D3F1-2E5AF26C30C2}"/>
                </a:ext>
              </a:extLst>
            </p:cNvPr>
            <p:cNvSpPr/>
            <p:nvPr/>
          </p:nvSpPr>
          <p:spPr>
            <a:xfrm>
              <a:off x="621792" y="3369280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2F6FED"/>
            </a:solidFill>
            <a:ln w="12700">
              <a:solidFill>
                <a:srgbClr val="2F6FED"/>
              </a:solidFill>
              <a:prstDash val="solid"/>
            </a:ln>
          </p:spPr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02FD3989-C226-92F4-0777-E2E11A614435}"/>
                </a:ext>
              </a:extLst>
            </p:cNvPr>
            <p:cNvSpPr/>
            <p:nvPr/>
          </p:nvSpPr>
          <p:spPr>
            <a:xfrm>
              <a:off x="713232" y="3474436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Account</a:t>
              </a:r>
              <a:endParaRPr lang="en-US" sz="92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E62164-EBEF-D073-2A35-B5251FA8A9C5}"/>
              </a:ext>
            </a:extLst>
          </p:cNvPr>
          <p:cNvGrpSpPr/>
          <p:nvPr/>
        </p:nvGrpSpPr>
        <p:grpSpPr>
          <a:xfrm>
            <a:off x="2170946" y="4905340"/>
            <a:ext cx="1234440" cy="393192"/>
            <a:chOff x="2039112" y="3369280"/>
            <a:chExt cx="1234440" cy="393192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4D5829F5-72DC-C790-2E2D-66F164A3DF84}"/>
                </a:ext>
              </a:extLst>
            </p:cNvPr>
            <p:cNvSpPr/>
            <p:nvPr/>
          </p:nvSpPr>
          <p:spPr>
            <a:xfrm>
              <a:off x="2039112" y="3369280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00A8B5"/>
            </a:solidFill>
            <a:ln w="12700">
              <a:solidFill>
                <a:srgbClr val="00A8B5"/>
              </a:solidFill>
              <a:prstDash val="solid"/>
            </a:ln>
          </p:spPr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6DF8E582-3544-2744-B14A-322A1F311361}"/>
                </a:ext>
              </a:extLst>
            </p:cNvPr>
            <p:cNvSpPr/>
            <p:nvPr/>
          </p:nvSpPr>
          <p:spPr>
            <a:xfrm>
              <a:off x="2130552" y="3474436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Membership</a:t>
              </a:r>
              <a:endParaRPr lang="en-US" sz="92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D41B93B-CBEC-C021-B2AB-DEB7556FE984}"/>
              </a:ext>
            </a:extLst>
          </p:cNvPr>
          <p:cNvGrpSpPr/>
          <p:nvPr/>
        </p:nvGrpSpPr>
        <p:grpSpPr>
          <a:xfrm>
            <a:off x="761498" y="5465279"/>
            <a:ext cx="1234440" cy="393192"/>
            <a:chOff x="3456432" y="3369280"/>
            <a:chExt cx="1234440" cy="393192"/>
          </a:xfrm>
        </p:grpSpPr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3BE1D707-756F-EE04-EF7C-C938B25BD432}"/>
                </a:ext>
              </a:extLst>
            </p:cNvPr>
            <p:cNvSpPr/>
            <p:nvPr/>
          </p:nvSpPr>
          <p:spPr>
            <a:xfrm>
              <a:off x="3456432" y="3369280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2F6FED"/>
            </a:solidFill>
            <a:ln w="12700">
              <a:solidFill>
                <a:srgbClr val="2F6FED"/>
              </a:solidFill>
              <a:prstDash val="solid"/>
            </a:ln>
          </p:spPr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E6BA6087-0D8D-ACB1-0F0C-0827206383FC}"/>
                </a:ext>
              </a:extLst>
            </p:cNvPr>
            <p:cNvSpPr/>
            <p:nvPr/>
          </p:nvSpPr>
          <p:spPr>
            <a:xfrm>
              <a:off x="3547872" y="3474436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PT Booking</a:t>
              </a:r>
              <a:endParaRPr lang="en-US" sz="92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C6F43A-E4F9-0708-02DE-FDA8458A0D85}"/>
              </a:ext>
            </a:extLst>
          </p:cNvPr>
          <p:cNvGrpSpPr/>
          <p:nvPr/>
        </p:nvGrpSpPr>
        <p:grpSpPr>
          <a:xfrm>
            <a:off x="4327658" y="4920595"/>
            <a:ext cx="1234440" cy="393192"/>
            <a:chOff x="4873752" y="3369280"/>
            <a:chExt cx="1234440" cy="393192"/>
          </a:xfrm>
        </p:grpSpPr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378FFF4A-BDA0-8EFF-9626-1CD3D39B854C}"/>
                </a:ext>
              </a:extLst>
            </p:cNvPr>
            <p:cNvSpPr/>
            <p:nvPr/>
          </p:nvSpPr>
          <p:spPr>
            <a:xfrm>
              <a:off x="4873752" y="3369280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00A8B5"/>
            </a:solidFill>
            <a:ln w="12700">
              <a:solidFill>
                <a:srgbClr val="00A8B5"/>
              </a:solidFill>
              <a:prstDash val="solid"/>
            </a:ln>
          </p:spPr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4685EB72-33BE-F988-562A-F8A36DAF5225}"/>
                </a:ext>
              </a:extLst>
            </p:cNvPr>
            <p:cNvSpPr/>
            <p:nvPr/>
          </p:nvSpPr>
          <p:spPr>
            <a:xfrm>
              <a:off x="4965192" y="3474436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Schedule</a:t>
              </a:r>
              <a:endParaRPr lang="en-US" sz="92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858F3E-880C-D010-AC8A-55A1928E1152}"/>
              </a:ext>
            </a:extLst>
          </p:cNvPr>
          <p:cNvGrpSpPr/>
          <p:nvPr/>
        </p:nvGrpSpPr>
        <p:grpSpPr>
          <a:xfrm>
            <a:off x="2170946" y="5458684"/>
            <a:ext cx="1234440" cy="393192"/>
            <a:chOff x="621792" y="3899632"/>
            <a:chExt cx="1234440" cy="393192"/>
          </a:xfrm>
        </p:grpSpPr>
        <p:sp>
          <p:nvSpPr>
            <p:cNvPr id="28" name="Shape 15">
              <a:extLst>
                <a:ext uri="{FF2B5EF4-FFF2-40B4-BE49-F238E27FC236}">
                  <a16:creationId xmlns:a16="http://schemas.microsoft.com/office/drawing/2014/main" id="{33B60CD7-C90B-E53B-8CDC-F3EF234972AD}"/>
                </a:ext>
              </a:extLst>
            </p:cNvPr>
            <p:cNvSpPr/>
            <p:nvPr/>
          </p:nvSpPr>
          <p:spPr>
            <a:xfrm>
              <a:off x="621792" y="3899632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00A8B5"/>
            </a:solidFill>
            <a:ln w="12700">
              <a:noFill/>
              <a:prstDash val="solid"/>
            </a:ln>
          </p:spPr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C8C0887E-2C74-71B5-BA38-E4CD7D4AA96B}"/>
                </a:ext>
              </a:extLst>
            </p:cNvPr>
            <p:cNvSpPr/>
            <p:nvPr/>
          </p:nvSpPr>
          <p:spPr>
            <a:xfrm>
              <a:off x="713232" y="4004788"/>
              <a:ext cx="105156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QR Check-in</a:t>
              </a:r>
              <a:endParaRPr lang="en-US" sz="92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A8FAAEF-2121-6A93-C138-9EA9B7E79E06}"/>
              </a:ext>
            </a:extLst>
          </p:cNvPr>
          <p:cNvGrpSpPr/>
          <p:nvPr/>
        </p:nvGrpSpPr>
        <p:grpSpPr>
          <a:xfrm>
            <a:off x="9295899" y="4920595"/>
            <a:ext cx="1234440" cy="393192"/>
            <a:chOff x="2039112" y="3899632"/>
            <a:chExt cx="1234440" cy="393192"/>
          </a:xfrm>
        </p:grpSpPr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31D78149-5BC8-45DA-52C0-300EAD6FCE46}"/>
                </a:ext>
              </a:extLst>
            </p:cNvPr>
            <p:cNvSpPr/>
            <p:nvPr/>
          </p:nvSpPr>
          <p:spPr>
            <a:xfrm>
              <a:off x="2039112" y="3899632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00A8B5"/>
            </a:solidFill>
            <a:ln w="12700">
              <a:solidFill>
                <a:srgbClr val="00A8B5"/>
              </a:solidFill>
              <a:prstDash val="solid"/>
            </a:ln>
          </p:spPr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C8AD60B0-4A7D-C06D-F184-0382E2B9FC51}"/>
                </a:ext>
              </a:extLst>
            </p:cNvPr>
            <p:cNvSpPr/>
            <p:nvPr/>
          </p:nvSpPr>
          <p:spPr>
            <a:xfrm>
              <a:off x="2130552" y="4004788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Notification</a:t>
              </a:r>
              <a:endParaRPr lang="en-US" sz="92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02835C4-401D-B19E-59D3-833E55F18D41}"/>
              </a:ext>
            </a:extLst>
          </p:cNvPr>
          <p:cNvGrpSpPr/>
          <p:nvPr/>
        </p:nvGrpSpPr>
        <p:grpSpPr>
          <a:xfrm>
            <a:off x="7878579" y="4921473"/>
            <a:ext cx="1234440" cy="393192"/>
            <a:chOff x="3456432" y="3899632"/>
            <a:chExt cx="1234440" cy="393192"/>
          </a:xfrm>
        </p:grpSpPr>
        <p:sp>
          <p:nvSpPr>
            <p:cNvPr id="36" name="Shape 19">
              <a:extLst>
                <a:ext uri="{FF2B5EF4-FFF2-40B4-BE49-F238E27FC236}">
                  <a16:creationId xmlns:a16="http://schemas.microsoft.com/office/drawing/2014/main" id="{57E5F0DE-5419-6B07-8860-D2D4DCCFE234}"/>
                </a:ext>
              </a:extLst>
            </p:cNvPr>
            <p:cNvSpPr/>
            <p:nvPr/>
          </p:nvSpPr>
          <p:spPr>
            <a:xfrm>
              <a:off x="3456432" y="3899632"/>
              <a:ext cx="1234440" cy="393192"/>
            </a:xfrm>
            <a:prstGeom prst="roundRect">
              <a:avLst>
                <a:gd name="adj" fmla="val 18605"/>
              </a:avLst>
            </a:prstGeom>
            <a:solidFill>
              <a:srgbClr val="2F6FED"/>
            </a:solidFill>
            <a:ln w="12700">
              <a:solidFill>
                <a:srgbClr val="2F6FED"/>
              </a:solidFill>
              <a:prstDash val="solid"/>
            </a:ln>
          </p:spPr>
        </p:sp>
        <p:sp>
          <p:nvSpPr>
            <p:cNvPr id="38" name="Text 20">
              <a:extLst>
                <a:ext uri="{FF2B5EF4-FFF2-40B4-BE49-F238E27FC236}">
                  <a16:creationId xmlns:a16="http://schemas.microsoft.com/office/drawing/2014/main" id="{B9AAB641-985E-45D9-ABE0-9F7B5C6E9856}"/>
                </a:ext>
              </a:extLst>
            </p:cNvPr>
            <p:cNvSpPr/>
            <p:nvPr/>
          </p:nvSpPr>
          <p:spPr>
            <a:xfrm>
              <a:off x="3547872" y="4004788"/>
              <a:ext cx="10515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20" b="1" dirty="0">
                  <a:solidFill>
                    <a:srgbClr val="FFFFFF"/>
                  </a:solidFill>
                </a:rPr>
                <a:t>Report</a:t>
              </a:r>
              <a:endParaRPr lang="en-US" sz="92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3072-4215-F76E-9985-362C348E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BA66BE-62D6-78BD-194F-6F22AC07C2A6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Actors and Main Use Case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629FDC-F4E6-A13E-C4FB-62EC78BE5C41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uses the system?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5AC9B8-6C38-D14C-3C35-28C844D255BD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E859F8-D0C9-A1C8-51CD-F631A594874C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53849E-F627-8385-A098-2DAC9739B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40" name="Text 3">
            <a:extLst>
              <a:ext uri="{FF2B5EF4-FFF2-40B4-BE49-F238E27FC236}">
                <a16:creationId xmlns:a16="http://schemas.microsoft.com/office/drawing/2014/main" id="{9C6F46CD-8DC1-16C2-EF06-A64B002EADFC}"/>
              </a:ext>
            </a:extLst>
          </p:cNvPr>
          <p:cNvSpPr/>
          <p:nvPr/>
        </p:nvSpPr>
        <p:spPr>
          <a:xfrm>
            <a:off x="530352" y="121780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noProof="1">
                <a:solidFill>
                  <a:srgbClr val="1F77B4"/>
                </a:solidFill>
                <a:latin typeface="Montserrat" pitchFamily="34" charset="0"/>
              </a:rPr>
              <a:t>Customer</a:t>
            </a:r>
            <a:endParaRPr lang="en-US" sz="1800" noProof="1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16146E2C-2AED-C629-528C-5301AA880EEE}"/>
              </a:ext>
            </a:extLst>
          </p:cNvPr>
          <p:cNvSpPr/>
          <p:nvPr/>
        </p:nvSpPr>
        <p:spPr>
          <a:xfrm>
            <a:off x="2897004" y="1152145"/>
            <a:ext cx="15743" cy="4790276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8EC2B384-1DB0-1B5C-A596-8A3C0D2FFEE6}"/>
              </a:ext>
            </a:extLst>
          </p:cNvPr>
          <p:cNvSpPr/>
          <p:nvPr/>
        </p:nvSpPr>
        <p:spPr>
          <a:xfrm>
            <a:off x="438912" y="368444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Trainer</a:t>
            </a:r>
            <a:endParaRPr lang="en-US" sz="1800" noProof="1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F4EF633-C58B-642B-915F-56CE339BA4DE}"/>
              </a:ext>
            </a:extLst>
          </p:cNvPr>
          <p:cNvSpPr/>
          <p:nvPr/>
        </p:nvSpPr>
        <p:spPr>
          <a:xfrm>
            <a:off x="438912" y="3547283"/>
            <a:ext cx="5180838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F401C1B-6108-7F0A-7057-B1E8D0994F4B}"/>
              </a:ext>
            </a:extLst>
          </p:cNvPr>
          <p:cNvSpPr/>
          <p:nvPr/>
        </p:nvSpPr>
        <p:spPr>
          <a:xfrm>
            <a:off x="374904" y="6015574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E7D71-FCE9-CB8E-17C9-B2A0E1F1DE4C}"/>
              </a:ext>
            </a:extLst>
          </p:cNvPr>
          <p:cNvSpPr txBox="1"/>
          <p:nvPr/>
        </p:nvSpPr>
        <p:spPr>
          <a:xfrm>
            <a:off x="438912" y="1987476"/>
            <a:ext cx="60945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Sign up/sign in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View membership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Book PT package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View schedule and QR</a:t>
            </a:r>
            <a:endParaRPr lang="en-US" sz="115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0C935B3B-B417-0256-B893-4FAFE42BEAC4}"/>
              </a:ext>
            </a:extLst>
          </p:cNvPr>
          <p:cNvSpPr/>
          <p:nvPr/>
        </p:nvSpPr>
        <p:spPr>
          <a:xfrm>
            <a:off x="438912" y="4095922"/>
            <a:ext cx="4297680" cy="1527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Submit request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Manage profile/package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Accept or reject booking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Record training session</a:t>
            </a:r>
            <a:endParaRPr lang="en-US" sz="11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90F072-41EA-BCC7-EDC1-00C23E355763}"/>
              </a:ext>
            </a:extLst>
          </p:cNvPr>
          <p:cNvGrpSpPr/>
          <p:nvPr/>
        </p:nvGrpSpPr>
        <p:grpSpPr>
          <a:xfrm>
            <a:off x="3276100" y="1235030"/>
            <a:ext cx="4297680" cy="1935100"/>
            <a:chOff x="6133850" y="1216009"/>
            <a:chExt cx="4297680" cy="1935100"/>
          </a:xfrm>
        </p:grpSpPr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E11F6FFB-D6BB-AE67-E427-C4090F70B70C}"/>
                </a:ext>
              </a:extLst>
            </p:cNvPr>
            <p:cNvSpPr/>
            <p:nvPr/>
          </p:nvSpPr>
          <p:spPr>
            <a:xfrm>
              <a:off x="6133850" y="1216009"/>
              <a:ext cx="3017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noProof="1">
                  <a:solidFill>
                    <a:srgbClr val="0B1F3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Gym Owner</a:t>
              </a:r>
              <a:endParaRPr lang="en-US" sz="1800" noProof="1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07FD60E2-007A-5AD3-FE70-49BF981A4371}"/>
                </a:ext>
              </a:extLst>
            </p:cNvPr>
            <p:cNvSpPr/>
            <p:nvPr/>
          </p:nvSpPr>
          <p:spPr>
            <a:xfrm>
              <a:off x="6133850" y="1624061"/>
              <a:ext cx="4297680" cy="15270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150" dirty="0">
                  <a:solidFill>
                    <a:srgbClr val="1F2937"/>
                  </a:solidFill>
                </a:rPr>
                <a:t>Manage membership</a:t>
              </a:r>
              <a:endParaRPr lang="en-US" sz="1150" dirty="0"/>
            </a:p>
            <a:p>
              <a:r>
                <a:rPr lang="en-US" sz="1150" dirty="0">
                  <a:solidFill>
                    <a:srgbClr val="1F2937"/>
                  </a:solidFill>
                </a:rPr>
                <a:t>Approve PT account</a:t>
              </a:r>
              <a:endParaRPr lang="en-US" sz="1150" dirty="0"/>
            </a:p>
            <a:p>
              <a:r>
                <a:rPr lang="en-US" sz="1150" dirty="0">
                  <a:solidFill>
                    <a:srgbClr val="1F2937"/>
                  </a:solidFill>
                </a:rPr>
                <a:t>Publish notification</a:t>
              </a:r>
              <a:endParaRPr lang="en-US" sz="1150" dirty="0"/>
            </a:p>
            <a:p>
              <a:r>
                <a:rPr lang="en-US" sz="1150" dirty="0">
                  <a:solidFill>
                    <a:srgbClr val="1F2937"/>
                  </a:solidFill>
                </a:rPr>
                <a:t>View/export reports</a:t>
              </a:r>
              <a:endParaRPr lang="en-US" sz="11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F0BC98-A2DE-4B4A-8EFF-CCBD88544B49}"/>
              </a:ext>
            </a:extLst>
          </p:cNvPr>
          <p:cNvGrpSpPr/>
          <p:nvPr/>
        </p:nvGrpSpPr>
        <p:grpSpPr>
          <a:xfrm>
            <a:off x="3276100" y="3768551"/>
            <a:ext cx="4366510" cy="1764935"/>
            <a:chOff x="6133850" y="3684299"/>
            <a:chExt cx="4366510" cy="1764935"/>
          </a:xfrm>
        </p:grpSpPr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3068AC75-70B2-D7E8-8737-5E00FF81CF2A}"/>
                </a:ext>
              </a:extLst>
            </p:cNvPr>
            <p:cNvSpPr/>
            <p:nvPr/>
          </p:nvSpPr>
          <p:spPr>
            <a:xfrm>
              <a:off x="6133850" y="3684299"/>
              <a:ext cx="3017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noProof="1">
                  <a:solidFill>
                    <a:srgbClr val="0B1F3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External system</a:t>
              </a:r>
              <a:endParaRPr lang="en-US" sz="1800" noProof="1"/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35A43A23-F6DB-37C3-EE84-FCC42FAE44B4}"/>
                </a:ext>
              </a:extLst>
            </p:cNvPr>
            <p:cNvSpPr/>
            <p:nvPr/>
          </p:nvSpPr>
          <p:spPr>
            <a:xfrm>
              <a:off x="6202680" y="4269658"/>
              <a:ext cx="4297680" cy="117957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150" dirty="0">
                  <a:solidFill>
                    <a:srgbClr val="1F2937"/>
                  </a:solidFill>
                </a:rPr>
                <a:t>Notification/SMS</a:t>
              </a:r>
              <a:endParaRPr lang="en-US" sz="1150" dirty="0"/>
            </a:p>
            <a:p>
              <a:r>
                <a:rPr lang="en-US" sz="1150" dirty="0">
                  <a:solidFill>
                    <a:srgbClr val="1F2937"/>
                  </a:solidFill>
                </a:rPr>
                <a:t>QR Scanner</a:t>
              </a:r>
              <a:endParaRPr lang="en-US" sz="1150" dirty="0"/>
            </a:p>
            <a:p>
              <a:r>
                <a:rPr lang="en-US" sz="1150" dirty="0">
                  <a:solidFill>
                    <a:srgbClr val="1F2937"/>
                  </a:solidFill>
                </a:rPr>
                <a:t>Check-in/out events</a:t>
              </a:r>
              <a:endParaRPr lang="en-US" sz="115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EC59B3-E4B6-57BC-FDF3-12647CF52EC5}"/>
              </a:ext>
            </a:extLst>
          </p:cNvPr>
          <p:cNvGrpSpPr/>
          <p:nvPr/>
        </p:nvGrpSpPr>
        <p:grpSpPr>
          <a:xfrm>
            <a:off x="5854570" y="1193293"/>
            <a:ext cx="5898518" cy="4749128"/>
            <a:chOff x="6492240" y="1417319"/>
            <a:chExt cx="4983480" cy="4250779"/>
          </a:xfrm>
        </p:grpSpPr>
        <p:sp>
          <p:nvSpPr>
            <p:cNvPr id="53" name="Shape 5">
              <a:extLst>
                <a:ext uri="{FF2B5EF4-FFF2-40B4-BE49-F238E27FC236}">
                  <a16:creationId xmlns:a16="http://schemas.microsoft.com/office/drawing/2014/main" id="{8575CAC4-E0C8-CF67-344C-DE15B00AFB00}"/>
                </a:ext>
              </a:extLst>
            </p:cNvPr>
            <p:cNvSpPr/>
            <p:nvPr/>
          </p:nvSpPr>
          <p:spPr>
            <a:xfrm>
              <a:off x="6492240" y="1417319"/>
              <a:ext cx="4983480" cy="425077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  <p:txBody>
            <a:bodyPr/>
            <a:lstStyle/>
            <a:p>
              <a:endParaRPr lang="en-US" noProof="1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21D253-30E2-EDC5-E69F-D3EF14FC5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3473" y="1446780"/>
              <a:ext cx="4879273" cy="4176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204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Diagram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B7AA69-F7F5-B933-C4D5-A971A995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1EA539E-E7DD-DF9F-849A-D203DFD8F2B7}"/>
              </a:ext>
            </a:extLst>
          </p:cNvPr>
          <p:cNvGrpSpPr/>
          <p:nvPr/>
        </p:nvGrpSpPr>
        <p:grpSpPr>
          <a:xfrm>
            <a:off x="502920" y="1193296"/>
            <a:ext cx="5644264" cy="5280655"/>
            <a:chOff x="6995160" y="1732788"/>
            <a:chExt cx="4663440" cy="4160520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9FA8C693-874D-2332-9824-1445380B81F8}"/>
                </a:ext>
              </a:extLst>
            </p:cNvPr>
            <p:cNvSpPr/>
            <p:nvPr/>
          </p:nvSpPr>
          <p:spPr>
            <a:xfrm>
              <a:off x="6995160" y="1732788"/>
              <a:ext cx="4663440" cy="41605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  <p:txBody>
            <a:bodyPr/>
            <a:lstStyle/>
            <a:p>
              <a:endParaRPr lang="en-US" noProof="1"/>
            </a:p>
          </p:txBody>
        </p:sp>
        <p:pic>
          <p:nvPicPr>
            <p:cNvPr id="17" name="Image 0" descr="/mnt/data/gym_assets/UMLs/ContextDiagram.png">
              <a:extLst>
                <a:ext uri="{FF2B5EF4-FFF2-40B4-BE49-F238E27FC236}">
                  <a16:creationId xmlns:a16="http://schemas.microsoft.com/office/drawing/2014/main" id="{7156360C-D34D-9D57-9266-72818B56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" r="-1" b="-208"/>
            <a:stretch>
              <a:fillRect/>
            </a:stretch>
          </p:blipFill>
          <p:spPr>
            <a:xfrm>
              <a:off x="7005708" y="1765207"/>
              <a:ext cx="4652892" cy="41281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7D3A364-69C4-863B-59E2-E8614723C7A6}"/>
              </a:ext>
            </a:extLst>
          </p:cNvPr>
          <p:cNvSpPr txBox="1"/>
          <p:nvPr/>
        </p:nvSpPr>
        <p:spPr>
          <a:xfrm>
            <a:off x="6452558" y="1101934"/>
            <a:ext cx="543446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Main 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</a:t>
            </a:r>
            <a:r>
              <a:rPr lang="en-US" sz="1400" dirty="0"/>
              <a:t> — account data, membership requests, PT bookings, QR check-in/check-out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Personal Trainer</a:t>
            </a:r>
            <a:r>
              <a:rPr lang="en-US" sz="1400" dirty="0"/>
              <a:t> — PT account request, package management, booking response, training schedule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Gym Owner</a:t>
            </a:r>
            <a:r>
              <a:rPr lang="en-US" sz="1400" dirty="0"/>
              <a:t> — membership management, PT approval, notifications,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Notification/SMS Service</a:t>
            </a:r>
            <a:r>
              <a:rPr lang="en-US" sz="1400" dirty="0"/>
              <a:t> — delivers system and SMS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QR Scanner Service</a:t>
            </a:r>
            <a:r>
              <a:rPr lang="en-US" sz="1400" dirty="0"/>
              <a:t> — sends QR scan and check-in/check-out data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Main Data 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Customer receives membership details, booking results, schedules, QR codes, and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PT receives booking requests, customer information, and schedule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Gym Owner receives membership records, PT requests, check-in data, and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External services exchange notification and access-control data with the system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Message</a:t>
            </a:r>
          </a:p>
          <a:p>
            <a:pPr>
              <a:buNone/>
            </a:pPr>
            <a:r>
              <a:rPr lang="en-US" sz="1400" dirty="0"/>
              <a:t>The Context Diagram shows </a:t>
            </a:r>
            <a:r>
              <a:rPr lang="en-US" sz="1400" b="1" dirty="0"/>
              <a:t>who interacts with the system and what data is exchanged</a:t>
            </a:r>
            <a:r>
              <a:rPr lang="en-US" sz="1400" dirty="0"/>
              <a:t>, without describing internal processes or database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2EEB6-9590-1BAE-4E24-A2B114AE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8C4B8C-0345-E207-C3AB-F6D4985D8923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Bussiness Process 1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E4C715-7B13-C6E8-74F5-1E9B9F006E70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549BFC-261C-E54D-127D-BBBF4600C9F4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CB776E-FD42-13E5-7E34-090C32F94FE0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0EC1A8-9303-F13B-BB64-37F07F1ED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18" name="Image 0" descr="/mnt/data/gym_assets/Gym Prototype/#4 Membership active.png">
            <a:extLst>
              <a:ext uri="{FF2B5EF4-FFF2-40B4-BE49-F238E27FC236}">
                <a16:creationId xmlns:a16="http://schemas.microsoft.com/office/drawing/2014/main" id="{0BF32AB8-5B48-71DB-CF9B-531B6C32FC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990"/>
          <a:stretch>
            <a:fillRect/>
          </a:stretch>
        </p:blipFill>
        <p:spPr>
          <a:xfrm>
            <a:off x="743596" y="1289624"/>
            <a:ext cx="5154285" cy="2423160"/>
          </a:xfrm>
          <a:prstGeom prst="rect">
            <a:avLst/>
          </a:prstGeom>
        </p:spPr>
      </p:pic>
      <p:pic>
        <p:nvPicPr>
          <p:cNvPr id="20" name="Image 1" descr="/mnt/data/gym_assets/Gym Prototype/#2.1 Customer Membership DashBoard.png">
            <a:extLst>
              <a:ext uri="{FF2B5EF4-FFF2-40B4-BE49-F238E27FC236}">
                <a16:creationId xmlns:a16="http://schemas.microsoft.com/office/drawing/2014/main" id="{5709C84A-6864-C8C5-87D5-C8F45A2216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" r="-117" b="38802"/>
          <a:stretch>
            <a:fillRect/>
          </a:stretch>
        </p:blipFill>
        <p:spPr>
          <a:xfrm>
            <a:off x="743596" y="3913313"/>
            <a:ext cx="5154284" cy="2423160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3D87B07E-6841-5E54-99AB-D53AC4543BBB}"/>
              </a:ext>
            </a:extLst>
          </p:cNvPr>
          <p:cNvSpPr/>
          <p:nvPr/>
        </p:nvSpPr>
        <p:spPr>
          <a:xfrm>
            <a:off x="6172200" y="117043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033"/>
                </a:solidFill>
              </a:rPr>
              <a:t>Flow</a:t>
            </a:r>
            <a:endParaRPr lang="en-US" sz="22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044F54CF-4084-6542-E9D7-F8F669ACDF7F}"/>
              </a:ext>
            </a:extLst>
          </p:cNvPr>
          <p:cNvSpPr/>
          <p:nvPr/>
        </p:nvSpPr>
        <p:spPr>
          <a:xfrm>
            <a:off x="6400800" y="1691639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EE2404B-47D4-8097-9F59-D67B14DD9CB6}"/>
              </a:ext>
            </a:extLst>
          </p:cNvPr>
          <p:cNvSpPr/>
          <p:nvPr/>
        </p:nvSpPr>
        <p:spPr>
          <a:xfrm>
            <a:off x="6510528" y="1801367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Customer provides information</a:t>
            </a:r>
            <a:endParaRPr lang="en-US" sz="11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D34B9150-AF6F-A4A0-B8B1-105F58BFCE61}"/>
              </a:ext>
            </a:extLst>
          </p:cNvPr>
          <p:cNvSpPr/>
          <p:nvPr/>
        </p:nvSpPr>
        <p:spPr>
          <a:xfrm>
            <a:off x="8531352" y="2130551"/>
            <a:ext cx="0" cy="173736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54F1F8D-DAB0-DCDA-4E51-849907F4ACF2}"/>
              </a:ext>
            </a:extLst>
          </p:cNvPr>
          <p:cNvSpPr/>
          <p:nvPr/>
        </p:nvSpPr>
        <p:spPr>
          <a:xfrm>
            <a:off x="6400800" y="2377439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021D72F7-FBFE-AA36-DE10-F9B87CE8D830}"/>
              </a:ext>
            </a:extLst>
          </p:cNvPr>
          <p:cNvSpPr/>
          <p:nvPr/>
        </p:nvSpPr>
        <p:spPr>
          <a:xfrm>
            <a:off x="6510528" y="2487167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Gym Owner selects membership package</a:t>
            </a:r>
            <a:endParaRPr lang="en-US" sz="115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EFE6759F-3E46-89A6-4869-638516DDBA07}"/>
              </a:ext>
            </a:extLst>
          </p:cNvPr>
          <p:cNvSpPr/>
          <p:nvPr/>
        </p:nvSpPr>
        <p:spPr>
          <a:xfrm>
            <a:off x="8531352" y="2816351"/>
            <a:ext cx="0" cy="173736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ED3AC964-2D47-92FE-FC15-02DB1693C466}"/>
              </a:ext>
            </a:extLst>
          </p:cNvPr>
          <p:cNvSpPr/>
          <p:nvPr/>
        </p:nvSpPr>
        <p:spPr>
          <a:xfrm>
            <a:off x="6400800" y="3063239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DC70B534-AF5F-9DB7-6408-164938BB6D3F}"/>
              </a:ext>
            </a:extLst>
          </p:cNvPr>
          <p:cNvSpPr/>
          <p:nvPr/>
        </p:nvSpPr>
        <p:spPr>
          <a:xfrm>
            <a:off x="6510528" y="3172967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System creates CustomerMembership</a:t>
            </a:r>
            <a:endParaRPr lang="en-US" sz="115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7266FB42-4CE4-886F-DB8A-088C810EE851}"/>
              </a:ext>
            </a:extLst>
          </p:cNvPr>
          <p:cNvSpPr/>
          <p:nvPr/>
        </p:nvSpPr>
        <p:spPr>
          <a:xfrm>
            <a:off x="8531352" y="3502151"/>
            <a:ext cx="0" cy="173736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F1B799F3-A6A9-60B0-7D2C-A2D84157000E}"/>
              </a:ext>
            </a:extLst>
          </p:cNvPr>
          <p:cNvSpPr/>
          <p:nvPr/>
        </p:nvSpPr>
        <p:spPr>
          <a:xfrm>
            <a:off x="6400800" y="3749039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E78D7A9-FA10-DDD6-F4B7-B4F3393296BE}"/>
              </a:ext>
            </a:extLst>
          </p:cNvPr>
          <p:cNvSpPr/>
          <p:nvPr/>
        </p:nvSpPr>
        <p:spPr>
          <a:xfrm>
            <a:off x="6510528" y="3858767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System activates membership and generates QR</a:t>
            </a:r>
            <a:endParaRPr lang="en-US" sz="115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8356E383-3008-2B12-0762-57FE526843CE}"/>
              </a:ext>
            </a:extLst>
          </p:cNvPr>
          <p:cNvSpPr/>
          <p:nvPr/>
        </p:nvSpPr>
        <p:spPr>
          <a:xfrm>
            <a:off x="8531352" y="4187951"/>
            <a:ext cx="0" cy="173736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3D5EBAC6-3BC7-ADB4-EAAE-762495AE7CE1}"/>
              </a:ext>
            </a:extLst>
          </p:cNvPr>
          <p:cNvSpPr/>
          <p:nvPr/>
        </p:nvSpPr>
        <p:spPr>
          <a:xfrm>
            <a:off x="6400800" y="4434839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11497DEE-F37E-59BB-E0C1-9915A83A563F}"/>
              </a:ext>
            </a:extLst>
          </p:cNvPr>
          <p:cNvSpPr/>
          <p:nvPr/>
        </p:nvSpPr>
        <p:spPr>
          <a:xfrm>
            <a:off x="6510528" y="4544567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Notification is sent to customer</a:t>
            </a:r>
            <a:endParaRPr lang="en-US" sz="1150" dirty="0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6D8EC771-C0D9-7DB1-6E69-214356A83DC4}"/>
              </a:ext>
            </a:extLst>
          </p:cNvPr>
          <p:cNvSpPr/>
          <p:nvPr/>
        </p:nvSpPr>
        <p:spPr>
          <a:xfrm>
            <a:off x="6355080" y="5394960"/>
            <a:ext cx="443484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2A388622-2D7B-0984-09EB-BC857C831ADE}"/>
              </a:ext>
            </a:extLst>
          </p:cNvPr>
          <p:cNvSpPr/>
          <p:nvPr/>
        </p:nvSpPr>
        <p:spPr>
          <a:xfrm>
            <a:off x="6464808" y="5504688"/>
            <a:ext cx="4215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Key rule: membership is purchased/registered at the counter, not by online payment.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09294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EFFD-EE73-5DC8-5C3A-79666213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1F6614-B780-DEFB-F159-DA9F9990E853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Bussiness Process 2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48C0DE-C9BB-E0EE-1C19-4A0C02951387}"/>
              </a:ext>
            </a:extLst>
          </p:cNvPr>
          <p:cNvSpPr/>
          <p:nvPr/>
        </p:nvSpPr>
        <p:spPr>
          <a:xfrm>
            <a:off x="685800" y="1381865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6B4583-FEDB-47CB-BC8C-D1D0AAD1B801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ADDA17F-103D-6B11-DEA9-AC5511F4FA1D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752BE9-4E6C-0A69-FE9B-FDE466FA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326D9644-CC54-9DD6-B317-D36AE017946D}"/>
              </a:ext>
            </a:extLst>
          </p:cNvPr>
          <p:cNvSpPr/>
          <p:nvPr/>
        </p:nvSpPr>
        <p:spPr>
          <a:xfrm>
            <a:off x="731520" y="1500737"/>
            <a:ext cx="3374136" cy="2002536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8" name="Image 0" descr="/mnt/data/gym_assets/Gym Prototype/#2.5 PTs.png">
            <a:extLst>
              <a:ext uri="{FF2B5EF4-FFF2-40B4-BE49-F238E27FC236}">
                <a16:creationId xmlns:a16="http://schemas.microsoft.com/office/drawing/2014/main" id="{36516996-738B-7EBE-CF80-32D4D46C6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83" b="8583"/>
          <a:stretch/>
        </p:blipFill>
        <p:spPr>
          <a:xfrm>
            <a:off x="749808" y="1519025"/>
            <a:ext cx="3337560" cy="1965960"/>
          </a:xfrm>
          <a:prstGeom prst="rect">
            <a:avLst/>
          </a:prstGeom>
        </p:spPr>
      </p:pic>
      <p:sp>
        <p:nvSpPr>
          <p:cNvPr id="11" name="Shape 4">
            <a:extLst>
              <a:ext uri="{FF2B5EF4-FFF2-40B4-BE49-F238E27FC236}">
                <a16:creationId xmlns:a16="http://schemas.microsoft.com/office/drawing/2014/main" id="{FF457B26-C3CE-1F6E-1C66-4EF63ECC3044}"/>
              </a:ext>
            </a:extLst>
          </p:cNvPr>
          <p:cNvSpPr/>
          <p:nvPr/>
        </p:nvSpPr>
        <p:spPr>
          <a:xfrm>
            <a:off x="749808" y="3228953"/>
            <a:ext cx="33375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B24D8E3-C345-7E0C-1E8A-4777BF0F99D2}"/>
              </a:ext>
            </a:extLst>
          </p:cNvPr>
          <p:cNvSpPr/>
          <p:nvPr/>
        </p:nvSpPr>
        <p:spPr>
          <a:xfrm>
            <a:off x="841248" y="3297533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 views PTs</a:t>
            </a:r>
            <a:endParaRPr lang="en-US" sz="8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99AED3B1-ACF3-CCBC-2F24-5390E93DE1D7}"/>
              </a:ext>
            </a:extLst>
          </p:cNvPr>
          <p:cNvSpPr/>
          <p:nvPr/>
        </p:nvSpPr>
        <p:spPr>
          <a:xfrm>
            <a:off x="4297680" y="1500737"/>
            <a:ext cx="3374136" cy="2002536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19" name="Image 1" descr="/mnt/data/gym_assets/Gym Prototype/#2.5.1 Booking.png">
            <a:extLst>
              <a:ext uri="{FF2B5EF4-FFF2-40B4-BE49-F238E27FC236}">
                <a16:creationId xmlns:a16="http://schemas.microsoft.com/office/drawing/2014/main" id="{D9606F48-64EF-17E0-D4F2-26DB64C7EB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83" b="8583"/>
          <a:stretch/>
        </p:blipFill>
        <p:spPr>
          <a:xfrm>
            <a:off x="4315968" y="1519025"/>
            <a:ext cx="3337560" cy="1965960"/>
          </a:xfrm>
          <a:prstGeom prst="rect">
            <a:avLst/>
          </a:prstGeom>
        </p:spPr>
      </p:pic>
      <p:sp>
        <p:nvSpPr>
          <p:cNvPr id="23" name="Shape 7">
            <a:extLst>
              <a:ext uri="{FF2B5EF4-FFF2-40B4-BE49-F238E27FC236}">
                <a16:creationId xmlns:a16="http://schemas.microsoft.com/office/drawing/2014/main" id="{C3C8E3BD-ECA1-A98E-CE43-FB8079B160C2}"/>
              </a:ext>
            </a:extLst>
          </p:cNvPr>
          <p:cNvSpPr/>
          <p:nvPr/>
        </p:nvSpPr>
        <p:spPr>
          <a:xfrm>
            <a:off x="4315968" y="3228953"/>
            <a:ext cx="33375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1D27382A-FE88-AC6E-BBCF-C9EA02F9760D}"/>
              </a:ext>
            </a:extLst>
          </p:cNvPr>
          <p:cNvSpPr/>
          <p:nvPr/>
        </p:nvSpPr>
        <p:spPr>
          <a:xfrm>
            <a:off x="4407408" y="3297533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 books package</a:t>
            </a:r>
            <a:endParaRPr lang="en-US" sz="8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866DC307-692D-3661-4C4F-37F02C3A5B7C}"/>
              </a:ext>
            </a:extLst>
          </p:cNvPr>
          <p:cNvSpPr/>
          <p:nvPr/>
        </p:nvSpPr>
        <p:spPr>
          <a:xfrm>
            <a:off x="7863840" y="1500737"/>
            <a:ext cx="3374136" cy="2002536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35" name="Image 2" descr="/mnt/data/gym_assets/Gym Prototype/#3.1 Book Detail.png">
            <a:extLst>
              <a:ext uri="{FF2B5EF4-FFF2-40B4-BE49-F238E27FC236}">
                <a16:creationId xmlns:a16="http://schemas.microsoft.com/office/drawing/2014/main" id="{1F471E70-243D-FC4C-8EF7-D2184DF6C8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83" b="8583"/>
          <a:stretch/>
        </p:blipFill>
        <p:spPr>
          <a:xfrm>
            <a:off x="7882128" y="1519025"/>
            <a:ext cx="3337560" cy="1965960"/>
          </a:xfrm>
          <a:prstGeom prst="rect">
            <a:avLst/>
          </a:prstGeom>
        </p:spPr>
      </p:pic>
      <p:sp>
        <p:nvSpPr>
          <p:cNvPr id="39" name="Shape 10">
            <a:extLst>
              <a:ext uri="{FF2B5EF4-FFF2-40B4-BE49-F238E27FC236}">
                <a16:creationId xmlns:a16="http://schemas.microsoft.com/office/drawing/2014/main" id="{50E6E0FD-A7B6-D6D5-6671-EA29C2E6B55A}"/>
              </a:ext>
            </a:extLst>
          </p:cNvPr>
          <p:cNvSpPr/>
          <p:nvPr/>
        </p:nvSpPr>
        <p:spPr>
          <a:xfrm>
            <a:off x="7882128" y="3228953"/>
            <a:ext cx="33375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7FB34320-E89D-C8FE-8274-821D4B9A4971}"/>
              </a:ext>
            </a:extLst>
          </p:cNvPr>
          <p:cNvSpPr/>
          <p:nvPr/>
        </p:nvSpPr>
        <p:spPr>
          <a:xfrm>
            <a:off x="7973568" y="3297533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PT reviews request</a:t>
            </a:r>
            <a:endParaRPr lang="en-US" sz="800" dirty="0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C286E7AD-BFC4-5D64-B9C9-0029808A0D1D}"/>
              </a:ext>
            </a:extLst>
          </p:cNvPr>
          <p:cNvSpPr/>
          <p:nvPr/>
        </p:nvSpPr>
        <p:spPr>
          <a:xfrm>
            <a:off x="4041648" y="2524865"/>
            <a:ext cx="27432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A54D033A-A10E-CB67-B1EF-0715EFA313D2}"/>
              </a:ext>
            </a:extLst>
          </p:cNvPr>
          <p:cNvSpPr/>
          <p:nvPr/>
        </p:nvSpPr>
        <p:spPr>
          <a:xfrm>
            <a:off x="7607808" y="2524865"/>
            <a:ext cx="27432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8C5816C0-2E5E-A718-B517-AD12FB144056}"/>
              </a:ext>
            </a:extLst>
          </p:cNvPr>
          <p:cNvSpPr/>
          <p:nvPr/>
        </p:nvSpPr>
        <p:spPr>
          <a:xfrm>
            <a:off x="1005840" y="3977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9747C77F-58A4-4499-4DEA-7AB165BDA68B}"/>
              </a:ext>
            </a:extLst>
          </p:cNvPr>
          <p:cNvSpPr/>
          <p:nvPr/>
        </p:nvSpPr>
        <p:spPr>
          <a:xfrm>
            <a:off x="1115568" y="4087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F2937"/>
                </a:solidFill>
              </a:rPr>
              <a:t>Customer selects PT package</a:t>
            </a:r>
            <a:endParaRPr lang="en-US" sz="1030" dirty="0"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0311A9D9-BDBB-B403-2387-3ECC76F9D8A7}"/>
              </a:ext>
            </a:extLst>
          </p:cNvPr>
          <p:cNvSpPr/>
          <p:nvPr/>
        </p:nvSpPr>
        <p:spPr>
          <a:xfrm>
            <a:off x="3063240" y="3977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D0650E63-B3DA-F0FA-A876-2C9CBB9F8573}"/>
              </a:ext>
            </a:extLst>
          </p:cNvPr>
          <p:cNvSpPr/>
          <p:nvPr/>
        </p:nvSpPr>
        <p:spPr>
          <a:xfrm>
            <a:off x="3172968" y="4087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F2937"/>
                </a:solidFill>
              </a:rPr>
              <a:t>System creates booking request</a:t>
            </a:r>
            <a:endParaRPr lang="en-US" sz="1030" dirty="0"/>
          </a:p>
        </p:txBody>
      </p:sp>
      <p:sp>
        <p:nvSpPr>
          <p:cNvPr id="63" name="Shape 18">
            <a:extLst>
              <a:ext uri="{FF2B5EF4-FFF2-40B4-BE49-F238E27FC236}">
                <a16:creationId xmlns:a16="http://schemas.microsoft.com/office/drawing/2014/main" id="{8A428995-B539-C84E-ED0F-8395EC803442}"/>
              </a:ext>
            </a:extLst>
          </p:cNvPr>
          <p:cNvSpPr/>
          <p:nvPr/>
        </p:nvSpPr>
        <p:spPr>
          <a:xfrm>
            <a:off x="5120640" y="3977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7A21C43E-76C6-A02E-BED0-747828373D71}"/>
              </a:ext>
            </a:extLst>
          </p:cNvPr>
          <p:cNvSpPr/>
          <p:nvPr/>
        </p:nvSpPr>
        <p:spPr>
          <a:xfrm>
            <a:off x="5230368" y="4087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F2937"/>
                </a:solidFill>
              </a:rPr>
              <a:t>PT accepts or rejects</a:t>
            </a:r>
            <a:endParaRPr lang="en-US" sz="1030" dirty="0"/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0B65C126-C6B4-6431-9ADF-67987416D4ED}"/>
              </a:ext>
            </a:extLst>
          </p:cNvPr>
          <p:cNvSpPr/>
          <p:nvPr/>
        </p:nvSpPr>
        <p:spPr>
          <a:xfrm>
            <a:off x="7178040" y="3977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26972846-7985-E8B1-98E3-7484838ABD8F}"/>
              </a:ext>
            </a:extLst>
          </p:cNvPr>
          <p:cNvSpPr/>
          <p:nvPr/>
        </p:nvSpPr>
        <p:spPr>
          <a:xfrm>
            <a:off x="7287768" y="4087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F2937"/>
                </a:solidFill>
              </a:rPr>
              <a:t>System updates booking status</a:t>
            </a:r>
            <a:endParaRPr lang="en-US" sz="1030" dirty="0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2C7DA358-E342-D5E6-2455-13D8A0A4E2F5}"/>
              </a:ext>
            </a:extLst>
          </p:cNvPr>
          <p:cNvSpPr/>
          <p:nvPr/>
        </p:nvSpPr>
        <p:spPr>
          <a:xfrm>
            <a:off x="9235440" y="3977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3" name="Text 23">
            <a:extLst>
              <a:ext uri="{FF2B5EF4-FFF2-40B4-BE49-F238E27FC236}">
                <a16:creationId xmlns:a16="http://schemas.microsoft.com/office/drawing/2014/main" id="{34ADA7F2-DC86-2487-6EBD-4BFCA8555494}"/>
              </a:ext>
            </a:extLst>
          </p:cNvPr>
          <p:cNvSpPr/>
          <p:nvPr/>
        </p:nvSpPr>
        <p:spPr>
          <a:xfrm>
            <a:off x="9345168" y="4087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F2937"/>
                </a:solidFill>
              </a:rPr>
              <a:t>Notification is sent</a:t>
            </a:r>
            <a:endParaRPr lang="en-US" sz="103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759C79A6-ABB4-6729-E066-114B84AFD6E0}"/>
              </a:ext>
            </a:extLst>
          </p:cNvPr>
          <p:cNvSpPr/>
          <p:nvPr/>
        </p:nvSpPr>
        <p:spPr>
          <a:xfrm>
            <a:off x="2606040" y="4297680"/>
            <a:ext cx="45720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77" name="Shape 25">
            <a:extLst>
              <a:ext uri="{FF2B5EF4-FFF2-40B4-BE49-F238E27FC236}">
                <a16:creationId xmlns:a16="http://schemas.microsoft.com/office/drawing/2014/main" id="{A9C5BE9B-A2CC-42C2-9D16-A1D2C5476255}"/>
              </a:ext>
            </a:extLst>
          </p:cNvPr>
          <p:cNvSpPr/>
          <p:nvPr/>
        </p:nvSpPr>
        <p:spPr>
          <a:xfrm>
            <a:off x="4663440" y="4297680"/>
            <a:ext cx="45720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79" name="Shape 26">
            <a:extLst>
              <a:ext uri="{FF2B5EF4-FFF2-40B4-BE49-F238E27FC236}">
                <a16:creationId xmlns:a16="http://schemas.microsoft.com/office/drawing/2014/main" id="{D25A3902-F338-AFB0-9AAF-82E9383BD13D}"/>
              </a:ext>
            </a:extLst>
          </p:cNvPr>
          <p:cNvSpPr/>
          <p:nvPr/>
        </p:nvSpPr>
        <p:spPr>
          <a:xfrm>
            <a:off x="6720840" y="4297680"/>
            <a:ext cx="45720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81" name="Shape 27">
            <a:extLst>
              <a:ext uri="{FF2B5EF4-FFF2-40B4-BE49-F238E27FC236}">
                <a16:creationId xmlns:a16="http://schemas.microsoft.com/office/drawing/2014/main" id="{CD6F43F3-CC6F-5488-1B37-7A277549DF8D}"/>
              </a:ext>
            </a:extLst>
          </p:cNvPr>
          <p:cNvSpPr/>
          <p:nvPr/>
        </p:nvSpPr>
        <p:spPr>
          <a:xfrm>
            <a:off x="8778240" y="4297680"/>
            <a:ext cx="45720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0A8E38D8-DE23-FB53-9F1A-4A7A573A8192}"/>
              </a:ext>
            </a:extLst>
          </p:cNvPr>
          <p:cNvSpPr/>
          <p:nvPr/>
        </p:nvSpPr>
        <p:spPr>
          <a:xfrm>
            <a:off x="1051560" y="5532120"/>
            <a:ext cx="978408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A9F4F17B-22E8-8A3C-271D-43B53C99110A}"/>
              </a:ext>
            </a:extLst>
          </p:cNvPr>
          <p:cNvSpPr/>
          <p:nvPr/>
        </p:nvSpPr>
        <p:spPr>
          <a:xfrm>
            <a:off x="1161288" y="5641848"/>
            <a:ext cx="9564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Result: Confirmed booking can become a training schedule; rejected booking stops the flow.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09575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E5B-1593-D866-510A-3BD77E36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1436B4-2D3F-0AA4-83D1-91CAB9CD5370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Bussiness Process 3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E76589-DAC9-6851-2792-70932EFAA054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D18299-8675-1022-3E2F-254BC494335E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130F116-3005-D92E-82E4-A8E01C5B7DF4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8F192C-9780-D50E-9E30-DA8FACE99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76FD3AB-B12E-29F1-6B84-A1B8888350A2}"/>
              </a:ext>
            </a:extLst>
          </p:cNvPr>
          <p:cNvSpPr/>
          <p:nvPr/>
        </p:nvSpPr>
        <p:spPr>
          <a:xfrm>
            <a:off x="484632" y="1353312"/>
            <a:ext cx="5294376" cy="4517136"/>
          </a:xfrm>
          <a:prstGeom prst="roundRect">
            <a:avLst>
              <a:gd name="adj" fmla="val 101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8" name="Image 0" descr="/mnt/data/brd_docx_media/word/media/image19.png">
            <a:extLst>
              <a:ext uri="{FF2B5EF4-FFF2-40B4-BE49-F238E27FC236}">
                <a16:creationId xmlns:a16="http://schemas.microsoft.com/office/drawing/2014/main" id="{DD343667-11A1-9E96-BAB3-D3E6A87A34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576" t="-6604" r="-22576" b="-8962"/>
          <a:stretch>
            <a:fillRect/>
          </a:stretch>
        </p:blipFill>
        <p:spPr>
          <a:xfrm>
            <a:off x="301637" y="1120140"/>
            <a:ext cx="5794363" cy="4937805"/>
          </a:xfrm>
          <a:prstGeom prst="rect">
            <a:avLst/>
          </a:prstGeom>
        </p:spPr>
      </p:pic>
      <p:sp>
        <p:nvSpPr>
          <p:cNvPr id="11" name="Shape 4">
            <a:extLst>
              <a:ext uri="{FF2B5EF4-FFF2-40B4-BE49-F238E27FC236}">
                <a16:creationId xmlns:a16="http://schemas.microsoft.com/office/drawing/2014/main" id="{AA752CA9-9C98-0F69-BC22-0140170D028D}"/>
              </a:ext>
            </a:extLst>
          </p:cNvPr>
          <p:cNvSpPr/>
          <p:nvPr/>
        </p:nvSpPr>
        <p:spPr>
          <a:xfrm>
            <a:off x="502920" y="5596128"/>
            <a:ext cx="525780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848D5CF-6969-0452-32FC-A3B753566C9C}"/>
              </a:ext>
            </a:extLst>
          </p:cNvPr>
          <p:cNvSpPr/>
          <p:nvPr/>
        </p:nvSpPr>
        <p:spPr>
          <a:xfrm>
            <a:off x="594360" y="5664708"/>
            <a:ext cx="5074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Swimlane Activity Diagram</a:t>
            </a:r>
            <a:endParaRPr lang="en-US" sz="8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A702603-52E8-2458-B5C3-5F0C58B40344}"/>
              </a:ext>
            </a:extLst>
          </p:cNvPr>
          <p:cNvSpPr/>
          <p:nvPr/>
        </p:nvSpPr>
        <p:spPr>
          <a:xfrm>
            <a:off x="62636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033"/>
                </a:solidFill>
              </a:rPr>
              <a:t>Business rules</a:t>
            </a: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75DDA90-5AAB-1B15-825C-8FD48BDD7213}"/>
              </a:ext>
            </a:extLst>
          </p:cNvPr>
          <p:cNvSpPr/>
          <p:nvPr/>
        </p:nvSpPr>
        <p:spPr>
          <a:xfrm>
            <a:off x="6309360" y="2377440"/>
            <a:ext cx="44348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QR code exists with the active membership.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QR Scanner sends scan data to the backend.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System validates CustomerMembership status.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Valid scan creates check-in/check-out record.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Gym Owner can view check-in reports.</a:t>
            </a:r>
            <a:endParaRPr lang="en-US" sz="13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C5D9870C-E604-A247-0B7C-1B14D1BC673A}"/>
              </a:ext>
            </a:extLst>
          </p:cNvPr>
          <p:cNvSpPr/>
          <p:nvPr/>
        </p:nvSpPr>
        <p:spPr>
          <a:xfrm>
            <a:off x="6309360" y="5164980"/>
            <a:ext cx="438912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2981503-8CE0-A1A1-DD7B-B4210FCA7E94}"/>
              </a:ext>
            </a:extLst>
          </p:cNvPr>
          <p:cNvSpPr/>
          <p:nvPr/>
        </p:nvSpPr>
        <p:spPr>
          <a:xfrm>
            <a:off x="6419088" y="5274708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Access decision depends on membership validity, not payment status.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6371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 Diagram Level 0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/>
          <p:cNvSpPr/>
          <p:nvPr/>
        </p:nvSpPr>
        <p:spPr>
          <a:xfrm>
            <a:off x="502919" y="1353311"/>
            <a:ext cx="11315269" cy="512062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/>
          <p:cNvSpPr/>
          <p:nvPr/>
        </p:nvSpPr>
        <p:spPr>
          <a:xfrm>
            <a:off x="822960" y="3236976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OVERALL SYSTEM ARCHITECTURE DIAGRAM</a:t>
            </a:r>
            <a:endParaRPr lang="en-US" sz="1600" noProof="1"/>
          </a:p>
        </p:txBody>
      </p:sp>
      <p:sp>
        <p:nvSpPr>
          <p:cNvPr id="7" name="Text 5"/>
          <p:cNvSpPr/>
          <p:nvPr/>
        </p:nvSpPr>
        <p:spPr>
          <a:xfrm>
            <a:off x="868680" y="362102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full architecture diagram showing Device Layer, Server Layer, and Application Layer.</a:t>
            </a:r>
            <a:endParaRPr lang="en-US" sz="1050" noProof="1"/>
          </a:p>
        </p:txBody>
      </p:sp>
      <p:sp>
        <p:nvSpPr>
          <p:cNvPr id="9" name="Text 7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4DEB5A-CD3A-D23B-CFB1-E4CF4AF2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12" name="Image 1" descr="/mnt/data/gym_assets/UMLs/DFD.png">
            <a:extLst>
              <a:ext uri="{FF2B5EF4-FFF2-40B4-BE49-F238E27FC236}">
                <a16:creationId xmlns:a16="http://schemas.microsoft.com/office/drawing/2014/main" id="{2F8F8579-A45E-52C9-425F-BA51238A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3" t="-1373" r="-145" b="-1"/>
          <a:stretch>
            <a:fillRect/>
          </a:stretch>
        </p:blipFill>
        <p:spPr>
          <a:xfrm>
            <a:off x="530351" y="1353310"/>
            <a:ext cx="11264427" cy="5047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ERD / Data design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5C3610-92D2-A978-5770-4144C649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0C41547-D3CC-E62C-4A60-F2BD5F993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062" y="1117882"/>
            <a:ext cx="7831380" cy="51617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2CF17-3D1A-4C86-4334-86323890C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90BD6A-F25B-7FE0-B446-802A5826A035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Transition Diagram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84E998-B111-2B7D-4069-5021711BC50C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F894A5-9401-92FC-5745-89A1151F0874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24B00D-0F20-8670-B9A1-A8D22268A892}"/>
              </a:ext>
            </a:extLst>
          </p:cNvPr>
          <p:cNvSpPr/>
          <p:nvPr/>
        </p:nvSpPr>
        <p:spPr>
          <a:xfrm>
            <a:off x="640080" y="1470110"/>
            <a:ext cx="1101852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124C311-90A5-1F16-D0AA-A97950279526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568573-3373-3E50-FB8D-4121F735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0F1BA-9FFA-932F-1C13-C28D59213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13" y="2213037"/>
            <a:ext cx="4772027" cy="12525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162604-2174-4097-0ADF-F94D63EB4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357" y="4260511"/>
            <a:ext cx="3645047" cy="1781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95BB80-31A9-B260-62F2-42AA1B01A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714" y="2099542"/>
            <a:ext cx="4653411" cy="16403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DB2205-F02D-ABDB-2478-A71342919B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920" y="4640442"/>
            <a:ext cx="5715000" cy="1021312"/>
          </a:xfrm>
          <a:prstGeom prst="rect">
            <a:avLst/>
          </a:prstGeom>
        </p:spPr>
      </p:pic>
      <p:sp>
        <p:nvSpPr>
          <p:cNvPr id="40" name="Text 3">
            <a:extLst>
              <a:ext uri="{FF2B5EF4-FFF2-40B4-BE49-F238E27FC236}">
                <a16:creationId xmlns:a16="http://schemas.microsoft.com/office/drawing/2014/main" id="{65D72297-EC10-20FB-8D75-80E086582C6C}"/>
              </a:ext>
            </a:extLst>
          </p:cNvPr>
          <p:cNvSpPr/>
          <p:nvPr/>
        </p:nvSpPr>
        <p:spPr>
          <a:xfrm>
            <a:off x="1055874" y="1812853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33"/>
                </a:solidFill>
              </a:rPr>
              <a:t>PT Account</a:t>
            </a:r>
            <a:endParaRPr lang="en-US" sz="16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AA3809F-3C2B-C87F-4E3B-89B4F50777DC}"/>
              </a:ext>
            </a:extLst>
          </p:cNvPr>
          <p:cNvSpPr/>
          <p:nvPr/>
        </p:nvSpPr>
        <p:spPr>
          <a:xfrm>
            <a:off x="1055874" y="3687373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33"/>
                </a:solidFill>
              </a:rPr>
              <a:t>Customer Membership</a:t>
            </a:r>
            <a:endParaRPr lang="en-US" sz="16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D9B4BAA-EDF2-F07D-B584-CC4D35B0DCA0}"/>
              </a:ext>
            </a:extLst>
          </p:cNvPr>
          <p:cNvSpPr/>
          <p:nvPr/>
        </p:nvSpPr>
        <p:spPr>
          <a:xfrm>
            <a:off x="6633714" y="1812853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33"/>
                </a:solidFill>
              </a:rPr>
              <a:t>Booking</a:t>
            </a:r>
            <a:endParaRPr lang="en-US" sz="160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9E663311-161C-2BDF-0690-AA1079631083}"/>
              </a:ext>
            </a:extLst>
          </p:cNvPr>
          <p:cNvSpPr/>
          <p:nvPr/>
        </p:nvSpPr>
        <p:spPr>
          <a:xfrm>
            <a:off x="6633714" y="3687373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033"/>
                </a:solidFill>
              </a:rPr>
              <a:t>Visit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9590D-6A2C-F385-7A30-87576F703287}"/>
              </a:ext>
            </a:extLst>
          </p:cNvPr>
          <p:cNvSpPr/>
          <p:nvPr/>
        </p:nvSpPr>
        <p:spPr>
          <a:xfrm>
            <a:off x="3968151" y="2099542"/>
            <a:ext cx="1868769" cy="505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22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BAD5-3600-E196-2BCB-2431E78F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53B405-EC8D-FB34-5355-1384674A814D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Dialog Map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6B129C-2726-BA23-499B-3AF526F60106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E063BA-5C7E-68D8-B333-AF66CE72AC74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87548A-8D59-C9DE-D33C-37C02C8EFEB2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2A78E-A9AF-8AC4-08B2-32B07AFE8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08852-0A38-472E-3ACD-78F645CB3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66" y="1240620"/>
            <a:ext cx="102626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0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BFA4-9375-5C46-7231-B494AB57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41951B-DDCB-90B5-E106-A6F4C1D2EB4B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Demonstrate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F86915-D63B-3636-6CD1-8DD35B1841A6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FE6F63-29C6-6D85-8A95-D876FB110898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F649CD-6CBC-6411-7E20-04CF1A50874E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71C044-4779-F49B-4E4E-6C7C03C85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5D4BC148-0A22-29FC-613F-4820C6664044}"/>
              </a:ext>
            </a:extLst>
          </p:cNvPr>
          <p:cNvSpPr/>
          <p:nvPr/>
        </p:nvSpPr>
        <p:spPr>
          <a:xfrm>
            <a:off x="576072" y="1325879"/>
            <a:ext cx="3511296" cy="191109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9" name="Image 0" descr="/mnt/data/gym_assets/Gym Prototype/# 1 Login Page.png">
            <a:extLst>
              <a:ext uri="{FF2B5EF4-FFF2-40B4-BE49-F238E27FC236}">
                <a16:creationId xmlns:a16="http://schemas.microsoft.com/office/drawing/2014/main" id="{11BD652A-8687-7284-EB71-45DCDE7F22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068" b="12068"/>
          <a:stretch/>
        </p:blipFill>
        <p:spPr>
          <a:xfrm>
            <a:off x="594360" y="1344167"/>
            <a:ext cx="3474720" cy="1874520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B21180C3-F3D5-1609-BD74-21F1D5825D2C}"/>
              </a:ext>
            </a:extLst>
          </p:cNvPr>
          <p:cNvSpPr/>
          <p:nvPr/>
        </p:nvSpPr>
        <p:spPr>
          <a:xfrm>
            <a:off x="594360" y="2962655"/>
            <a:ext cx="347472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FA6C862-1A39-14B3-3073-EC69572A731A}"/>
              </a:ext>
            </a:extLst>
          </p:cNvPr>
          <p:cNvSpPr/>
          <p:nvPr/>
        </p:nvSpPr>
        <p:spPr>
          <a:xfrm>
            <a:off x="685800" y="3031235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1. Login</a:t>
            </a:r>
            <a:endParaRPr lang="en-US" sz="8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B4BB3958-18BC-546B-596E-67938BE3B823}"/>
              </a:ext>
            </a:extLst>
          </p:cNvPr>
          <p:cNvSpPr/>
          <p:nvPr/>
        </p:nvSpPr>
        <p:spPr>
          <a:xfrm>
            <a:off x="4325112" y="1325879"/>
            <a:ext cx="3511296" cy="191109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18" name="Image 1" descr="/mnt/data/gym_assets/Gym Prototype/#2.3 Memberships.png">
            <a:extLst>
              <a:ext uri="{FF2B5EF4-FFF2-40B4-BE49-F238E27FC236}">
                <a16:creationId xmlns:a16="http://schemas.microsoft.com/office/drawing/2014/main" id="{52A17073-5B38-CCA1-99E7-30E0B36B2D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068" b="12068"/>
          <a:stretch/>
        </p:blipFill>
        <p:spPr>
          <a:xfrm>
            <a:off x="4343400" y="1344167"/>
            <a:ext cx="3474720" cy="1874520"/>
          </a:xfrm>
          <a:prstGeom prst="rect">
            <a:avLst/>
          </a:prstGeom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05DE18E5-3C01-062E-F50A-9A2A8817352B}"/>
              </a:ext>
            </a:extLst>
          </p:cNvPr>
          <p:cNvSpPr/>
          <p:nvPr/>
        </p:nvSpPr>
        <p:spPr>
          <a:xfrm>
            <a:off x="4343400" y="2962655"/>
            <a:ext cx="347472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D6C76FD-EE17-2455-624A-2061CDD4F905}"/>
              </a:ext>
            </a:extLst>
          </p:cNvPr>
          <p:cNvSpPr/>
          <p:nvPr/>
        </p:nvSpPr>
        <p:spPr>
          <a:xfrm>
            <a:off x="4434840" y="3031235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2. View memberships</a:t>
            </a:r>
            <a:endParaRPr lang="en-US" sz="8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1192FBC-693D-648D-FCAF-ECB276ABA48E}"/>
              </a:ext>
            </a:extLst>
          </p:cNvPr>
          <p:cNvSpPr/>
          <p:nvPr/>
        </p:nvSpPr>
        <p:spPr>
          <a:xfrm>
            <a:off x="8074152" y="1325879"/>
            <a:ext cx="3511296" cy="191109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26" name="Image 2" descr="/mnt/data/gym_assets/Gym Prototype/#2.5.1 Booking.png">
            <a:extLst>
              <a:ext uri="{FF2B5EF4-FFF2-40B4-BE49-F238E27FC236}">
                <a16:creationId xmlns:a16="http://schemas.microsoft.com/office/drawing/2014/main" id="{05D52AC8-8C30-1A00-1495-35EFA892D8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8" b="12068"/>
          <a:stretch/>
        </p:blipFill>
        <p:spPr>
          <a:xfrm>
            <a:off x="8092440" y="1344167"/>
            <a:ext cx="3474720" cy="1874520"/>
          </a:xfrm>
          <a:prstGeom prst="rect">
            <a:avLst/>
          </a:prstGeom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DED471FE-AF4C-B5C1-F4BA-93358D59BB8B}"/>
              </a:ext>
            </a:extLst>
          </p:cNvPr>
          <p:cNvSpPr/>
          <p:nvPr/>
        </p:nvSpPr>
        <p:spPr>
          <a:xfrm>
            <a:off x="8092440" y="2962655"/>
            <a:ext cx="347472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7A6778E-4546-CE4F-E394-35C25B2B4B1E}"/>
              </a:ext>
            </a:extLst>
          </p:cNvPr>
          <p:cNvSpPr/>
          <p:nvPr/>
        </p:nvSpPr>
        <p:spPr>
          <a:xfrm>
            <a:off x="8183880" y="3031235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3. Book PT package</a:t>
            </a:r>
            <a:endParaRPr lang="en-US" sz="80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63C7A150-31EC-98D9-0EBC-584325558FB8}"/>
              </a:ext>
            </a:extLst>
          </p:cNvPr>
          <p:cNvSpPr/>
          <p:nvPr/>
        </p:nvSpPr>
        <p:spPr>
          <a:xfrm>
            <a:off x="2313432" y="4206239"/>
            <a:ext cx="3511296" cy="191109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34" name="Image 3" descr="/mnt/data/gym_assets/Gym Prototype/#2.1 Customer Membership DashBoard.png">
            <a:extLst>
              <a:ext uri="{FF2B5EF4-FFF2-40B4-BE49-F238E27FC236}">
                <a16:creationId xmlns:a16="http://schemas.microsoft.com/office/drawing/2014/main" id="{2E60B91B-E29E-4515-D091-07A473656E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068" b="12068"/>
          <a:stretch/>
        </p:blipFill>
        <p:spPr>
          <a:xfrm>
            <a:off x="2331720" y="4224527"/>
            <a:ext cx="3474720" cy="1874520"/>
          </a:xfrm>
          <a:prstGeom prst="rect">
            <a:avLst/>
          </a:prstGeom>
        </p:spPr>
      </p:pic>
      <p:sp>
        <p:nvSpPr>
          <p:cNvPr id="36" name="Shape 13">
            <a:extLst>
              <a:ext uri="{FF2B5EF4-FFF2-40B4-BE49-F238E27FC236}">
                <a16:creationId xmlns:a16="http://schemas.microsoft.com/office/drawing/2014/main" id="{60D6FB1C-46B1-5DC9-EC11-2F319013768F}"/>
              </a:ext>
            </a:extLst>
          </p:cNvPr>
          <p:cNvSpPr/>
          <p:nvPr/>
        </p:nvSpPr>
        <p:spPr>
          <a:xfrm>
            <a:off x="2331720" y="5843015"/>
            <a:ext cx="347472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C626E1B-E852-C36B-0B38-B4F35A113B69}"/>
              </a:ext>
            </a:extLst>
          </p:cNvPr>
          <p:cNvSpPr/>
          <p:nvPr/>
        </p:nvSpPr>
        <p:spPr>
          <a:xfrm>
            <a:off x="2423160" y="5911595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4. View membership QR</a:t>
            </a:r>
            <a:endParaRPr lang="en-US" sz="8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6C18B39B-063A-7BE9-C7D8-22789738F684}"/>
              </a:ext>
            </a:extLst>
          </p:cNvPr>
          <p:cNvSpPr/>
          <p:nvPr/>
        </p:nvSpPr>
        <p:spPr>
          <a:xfrm>
            <a:off x="6336792" y="4206239"/>
            <a:ext cx="3511296" cy="1911096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42" name="Image 4" descr="/mnt/data/gym_assets/Gym Prototype/#2 DashBoard.png">
            <a:extLst>
              <a:ext uri="{FF2B5EF4-FFF2-40B4-BE49-F238E27FC236}">
                <a16:creationId xmlns:a16="http://schemas.microsoft.com/office/drawing/2014/main" id="{51FF19A1-122E-81D1-0063-02BE0A2A652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068" b="12068"/>
          <a:stretch/>
        </p:blipFill>
        <p:spPr>
          <a:xfrm>
            <a:off x="6355080" y="4224527"/>
            <a:ext cx="3474720" cy="1874520"/>
          </a:xfrm>
          <a:prstGeom prst="rect">
            <a:avLst/>
          </a:prstGeom>
        </p:spPr>
      </p:pic>
      <p:sp>
        <p:nvSpPr>
          <p:cNvPr id="44" name="Shape 16">
            <a:extLst>
              <a:ext uri="{FF2B5EF4-FFF2-40B4-BE49-F238E27FC236}">
                <a16:creationId xmlns:a16="http://schemas.microsoft.com/office/drawing/2014/main" id="{973E7E51-24DB-190C-296A-42876269BE06}"/>
              </a:ext>
            </a:extLst>
          </p:cNvPr>
          <p:cNvSpPr/>
          <p:nvPr/>
        </p:nvSpPr>
        <p:spPr>
          <a:xfrm>
            <a:off x="6355080" y="5843015"/>
            <a:ext cx="347472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E157C77D-DDD1-E411-C914-B12F0274E530}"/>
              </a:ext>
            </a:extLst>
          </p:cNvPr>
          <p:cNvSpPr/>
          <p:nvPr/>
        </p:nvSpPr>
        <p:spPr>
          <a:xfrm>
            <a:off x="6446520" y="5911595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5. View schedule/dashboard</a:t>
            </a:r>
            <a:endParaRPr lang="en-US" sz="8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EA6712E4-683F-8D1F-11CB-72E32347A082}"/>
              </a:ext>
            </a:extLst>
          </p:cNvPr>
          <p:cNvSpPr/>
          <p:nvPr/>
        </p:nvSpPr>
        <p:spPr>
          <a:xfrm>
            <a:off x="4069080" y="2285999"/>
            <a:ext cx="27432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FFE149E8-F086-96B0-FBD2-99DE731E24B4}"/>
              </a:ext>
            </a:extLst>
          </p:cNvPr>
          <p:cNvSpPr/>
          <p:nvPr/>
        </p:nvSpPr>
        <p:spPr>
          <a:xfrm>
            <a:off x="7818120" y="2285999"/>
            <a:ext cx="27432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DA0E0E78-F139-F78B-9ADB-96E74073D210}"/>
              </a:ext>
            </a:extLst>
          </p:cNvPr>
          <p:cNvSpPr/>
          <p:nvPr/>
        </p:nvSpPr>
        <p:spPr>
          <a:xfrm>
            <a:off x="5806440" y="5166359"/>
            <a:ext cx="54864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69216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F011-25F5-5260-74FC-234DB9C0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A6960C-D7B5-1F9A-E2DA-53A87589C04F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Demonstrate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DAF95D-9BC6-FC6F-518F-67CE444115D0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DC7791-388D-EFC4-D765-32D2815BD6E0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7D7A2C-C7C8-70BF-4E41-C2F0361D5565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8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019F18-8021-A8E4-8C18-140EDABF9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F4497D7B-5BCD-8062-1C0E-7E058559845A}"/>
              </a:ext>
            </a:extLst>
          </p:cNvPr>
          <p:cNvSpPr/>
          <p:nvPr/>
        </p:nvSpPr>
        <p:spPr>
          <a:xfrm>
            <a:off x="502920" y="1472184"/>
            <a:ext cx="277977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9" name="Image 0" descr="/mnt/data/gym_assets/Gym Prototype/#3 PT DashBoard.png">
            <a:extLst>
              <a:ext uri="{FF2B5EF4-FFF2-40B4-BE49-F238E27FC236}">
                <a16:creationId xmlns:a16="http://schemas.microsoft.com/office/drawing/2014/main" id="{7DA8FC71-17B3-08EF-6630-B9E2334A6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25" b="3125"/>
          <a:stretch/>
        </p:blipFill>
        <p:spPr>
          <a:xfrm>
            <a:off x="521208" y="1490472"/>
            <a:ext cx="2743200" cy="1828800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A2E4F2E4-4160-02EB-7173-7C17B5EF9C3D}"/>
              </a:ext>
            </a:extLst>
          </p:cNvPr>
          <p:cNvSpPr/>
          <p:nvPr/>
        </p:nvSpPr>
        <p:spPr>
          <a:xfrm>
            <a:off x="521208" y="3063240"/>
            <a:ext cx="274320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957C6E3-FF32-8268-5815-FBD21814742C}"/>
              </a:ext>
            </a:extLst>
          </p:cNvPr>
          <p:cNvSpPr/>
          <p:nvPr/>
        </p:nvSpPr>
        <p:spPr>
          <a:xfrm>
            <a:off x="612648" y="31318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PT dashboard</a:t>
            </a:r>
            <a:endParaRPr lang="en-US" sz="8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52CD11A9-37CE-6D1F-5A2A-06D532070D71}"/>
              </a:ext>
            </a:extLst>
          </p:cNvPr>
          <p:cNvSpPr/>
          <p:nvPr/>
        </p:nvSpPr>
        <p:spPr>
          <a:xfrm>
            <a:off x="3429000" y="1472184"/>
            <a:ext cx="277977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18" name="Image 1" descr="/mnt/data/gym_assets/Gym Prototype/#3.2 Schedule Create.png">
            <a:extLst>
              <a:ext uri="{FF2B5EF4-FFF2-40B4-BE49-F238E27FC236}">
                <a16:creationId xmlns:a16="http://schemas.microsoft.com/office/drawing/2014/main" id="{DC2FD11D-E5B8-3DF2-CD12-C7BC9329E0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25" b="3125"/>
          <a:stretch/>
        </p:blipFill>
        <p:spPr>
          <a:xfrm>
            <a:off x="3447288" y="1490472"/>
            <a:ext cx="2743200" cy="1828800"/>
          </a:xfrm>
          <a:prstGeom prst="rect">
            <a:avLst/>
          </a:prstGeom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97D1D6B1-5D1B-026C-06A5-0FFCEA2D95D2}"/>
              </a:ext>
            </a:extLst>
          </p:cNvPr>
          <p:cNvSpPr/>
          <p:nvPr/>
        </p:nvSpPr>
        <p:spPr>
          <a:xfrm>
            <a:off x="3447288" y="3063240"/>
            <a:ext cx="274320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7C2939A-842F-9E26-A7F9-0CC4DD9F91DB}"/>
              </a:ext>
            </a:extLst>
          </p:cNvPr>
          <p:cNvSpPr/>
          <p:nvPr/>
        </p:nvSpPr>
        <p:spPr>
          <a:xfrm>
            <a:off x="3538728" y="31318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Create schedule</a:t>
            </a:r>
            <a:endParaRPr lang="en-US" sz="8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D6BC281-2F1B-8DDA-51C0-402FCCB24A31}"/>
              </a:ext>
            </a:extLst>
          </p:cNvPr>
          <p:cNvSpPr/>
          <p:nvPr/>
        </p:nvSpPr>
        <p:spPr>
          <a:xfrm>
            <a:off x="6355080" y="1472184"/>
            <a:ext cx="277977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26" name="Image 2" descr="/mnt/data/gym_assets/Gym Prototype/#3.4 Session Record.png">
            <a:extLst>
              <a:ext uri="{FF2B5EF4-FFF2-40B4-BE49-F238E27FC236}">
                <a16:creationId xmlns:a16="http://schemas.microsoft.com/office/drawing/2014/main" id="{D5722E46-1F1D-FEC5-14E5-6ABF4FAC99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25" b="3125"/>
          <a:stretch/>
        </p:blipFill>
        <p:spPr>
          <a:xfrm>
            <a:off x="6373368" y="1490472"/>
            <a:ext cx="2743200" cy="1828800"/>
          </a:xfrm>
          <a:prstGeom prst="rect">
            <a:avLst/>
          </a:prstGeom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3EAEB4A9-00D7-810A-86DF-152FFCAABC4A}"/>
              </a:ext>
            </a:extLst>
          </p:cNvPr>
          <p:cNvSpPr/>
          <p:nvPr/>
        </p:nvSpPr>
        <p:spPr>
          <a:xfrm>
            <a:off x="6373368" y="3063240"/>
            <a:ext cx="274320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C676CAE8-B9E2-EC27-2342-CF985C3DCD0E}"/>
              </a:ext>
            </a:extLst>
          </p:cNvPr>
          <p:cNvSpPr/>
          <p:nvPr/>
        </p:nvSpPr>
        <p:spPr>
          <a:xfrm>
            <a:off x="6464808" y="31318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Record session</a:t>
            </a:r>
            <a:endParaRPr lang="en-US" sz="80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8470D3BE-B1AD-B9B6-5F77-2995D523C857}"/>
              </a:ext>
            </a:extLst>
          </p:cNvPr>
          <p:cNvSpPr/>
          <p:nvPr/>
        </p:nvSpPr>
        <p:spPr>
          <a:xfrm>
            <a:off x="9281160" y="1472184"/>
            <a:ext cx="232257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34" name="Image 3" descr="/mnt/data/gym_assets/Gym Prototype/#4 Active Pts.png">
            <a:extLst>
              <a:ext uri="{FF2B5EF4-FFF2-40B4-BE49-F238E27FC236}">
                <a16:creationId xmlns:a16="http://schemas.microsoft.com/office/drawing/2014/main" id="{E6B008F8-FA68-6D97-235A-F3B4FEE0F8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56" r="5556"/>
          <a:stretch/>
        </p:blipFill>
        <p:spPr>
          <a:xfrm>
            <a:off x="9299448" y="1490472"/>
            <a:ext cx="2286000" cy="1828800"/>
          </a:xfrm>
          <a:prstGeom prst="rect">
            <a:avLst/>
          </a:prstGeom>
        </p:spPr>
      </p:pic>
      <p:sp>
        <p:nvSpPr>
          <p:cNvPr id="36" name="Shape 13">
            <a:extLst>
              <a:ext uri="{FF2B5EF4-FFF2-40B4-BE49-F238E27FC236}">
                <a16:creationId xmlns:a16="http://schemas.microsoft.com/office/drawing/2014/main" id="{620716A0-178E-0DC4-A031-4F92EBD0770E}"/>
              </a:ext>
            </a:extLst>
          </p:cNvPr>
          <p:cNvSpPr/>
          <p:nvPr/>
        </p:nvSpPr>
        <p:spPr>
          <a:xfrm>
            <a:off x="9299448" y="3063240"/>
            <a:ext cx="228600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3333FB69-1AD7-3E71-CC22-981F64341123}"/>
              </a:ext>
            </a:extLst>
          </p:cNvPr>
          <p:cNvSpPr/>
          <p:nvPr/>
        </p:nvSpPr>
        <p:spPr>
          <a:xfrm>
            <a:off x="9390888" y="313182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Approve PT</a:t>
            </a:r>
            <a:endParaRPr lang="en-US" sz="8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230EB718-BBC9-41D2-E25E-9D7C4D68F27D}"/>
              </a:ext>
            </a:extLst>
          </p:cNvPr>
          <p:cNvSpPr/>
          <p:nvPr/>
        </p:nvSpPr>
        <p:spPr>
          <a:xfrm>
            <a:off x="822960" y="4215384"/>
            <a:ext cx="314553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42" name="Image 4" descr="/mnt/data/gym_assets/Gym Prototype/#4 Membership active.png">
            <a:extLst>
              <a:ext uri="{FF2B5EF4-FFF2-40B4-BE49-F238E27FC236}">
                <a16:creationId xmlns:a16="http://schemas.microsoft.com/office/drawing/2014/main" id="{CB852882-C5EF-E6BF-BB74-4F8FE89FB4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640" b="8640"/>
          <a:stretch/>
        </p:blipFill>
        <p:spPr>
          <a:xfrm>
            <a:off x="841248" y="4233672"/>
            <a:ext cx="3108960" cy="1828800"/>
          </a:xfrm>
          <a:prstGeom prst="rect">
            <a:avLst/>
          </a:prstGeom>
        </p:spPr>
      </p:pic>
      <p:sp>
        <p:nvSpPr>
          <p:cNvPr id="44" name="Shape 16">
            <a:extLst>
              <a:ext uri="{FF2B5EF4-FFF2-40B4-BE49-F238E27FC236}">
                <a16:creationId xmlns:a16="http://schemas.microsoft.com/office/drawing/2014/main" id="{ED5E42E5-2BBB-17C5-F2A6-C35BB7C36AFF}"/>
              </a:ext>
            </a:extLst>
          </p:cNvPr>
          <p:cNvSpPr/>
          <p:nvPr/>
        </p:nvSpPr>
        <p:spPr>
          <a:xfrm>
            <a:off x="841248" y="5806440"/>
            <a:ext cx="31089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CA37769-0C8C-EAA7-4A8F-54E3566C9B6F}"/>
              </a:ext>
            </a:extLst>
          </p:cNvPr>
          <p:cNvSpPr/>
          <p:nvPr/>
        </p:nvSpPr>
        <p:spPr>
          <a:xfrm>
            <a:off x="932688" y="587502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Activate membership</a:t>
            </a:r>
            <a:endParaRPr lang="en-US" sz="8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D6B75285-F4E0-9F0E-9B13-1069ED1EEEFF}"/>
              </a:ext>
            </a:extLst>
          </p:cNvPr>
          <p:cNvSpPr/>
          <p:nvPr/>
        </p:nvSpPr>
        <p:spPr>
          <a:xfrm>
            <a:off x="4526280" y="4215384"/>
            <a:ext cx="314553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50" name="Image 5" descr="/mnt/data/gym_assets/Gym Prototype/#4 Notifications.png">
            <a:extLst>
              <a:ext uri="{FF2B5EF4-FFF2-40B4-BE49-F238E27FC236}">
                <a16:creationId xmlns:a16="http://schemas.microsoft.com/office/drawing/2014/main" id="{12AB81F7-4139-96B2-5F56-CD34431AD85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640" b="8640"/>
          <a:stretch/>
        </p:blipFill>
        <p:spPr>
          <a:xfrm>
            <a:off x="4544568" y="4233672"/>
            <a:ext cx="3108960" cy="1828800"/>
          </a:xfrm>
          <a:prstGeom prst="rect">
            <a:avLst/>
          </a:prstGeom>
        </p:spPr>
      </p:pic>
      <p:sp>
        <p:nvSpPr>
          <p:cNvPr id="52" name="Shape 19">
            <a:extLst>
              <a:ext uri="{FF2B5EF4-FFF2-40B4-BE49-F238E27FC236}">
                <a16:creationId xmlns:a16="http://schemas.microsoft.com/office/drawing/2014/main" id="{71BCBDD5-E3C2-8DB8-0A50-1BCF77270758}"/>
              </a:ext>
            </a:extLst>
          </p:cNvPr>
          <p:cNvSpPr/>
          <p:nvPr/>
        </p:nvSpPr>
        <p:spPr>
          <a:xfrm>
            <a:off x="4544568" y="5806440"/>
            <a:ext cx="31089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02076CC0-AD8B-4D4B-0505-75EAA07D4C2D}"/>
              </a:ext>
            </a:extLst>
          </p:cNvPr>
          <p:cNvSpPr/>
          <p:nvPr/>
        </p:nvSpPr>
        <p:spPr>
          <a:xfrm>
            <a:off x="4636008" y="587502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Publish notification</a:t>
            </a:r>
            <a:endParaRPr lang="en-US" sz="80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8A1FAAAF-8833-25D7-9232-368D3D87AE9C}"/>
              </a:ext>
            </a:extLst>
          </p:cNvPr>
          <p:cNvSpPr/>
          <p:nvPr/>
        </p:nvSpPr>
        <p:spPr>
          <a:xfrm>
            <a:off x="8229600" y="4215384"/>
            <a:ext cx="3145536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pic>
        <p:nvPicPr>
          <p:cNvPr id="58" name="Image 6" descr="/mnt/data/gym_assets/Gym Prototype/#4 Reports.png">
            <a:extLst>
              <a:ext uri="{FF2B5EF4-FFF2-40B4-BE49-F238E27FC236}">
                <a16:creationId xmlns:a16="http://schemas.microsoft.com/office/drawing/2014/main" id="{538113CA-8BE4-7CA8-4D94-0A234C31C64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8640" b="8640"/>
          <a:stretch/>
        </p:blipFill>
        <p:spPr>
          <a:xfrm>
            <a:off x="8247888" y="4233672"/>
            <a:ext cx="3108960" cy="1828800"/>
          </a:xfrm>
          <a:prstGeom prst="rect">
            <a:avLst/>
          </a:prstGeom>
        </p:spPr>
      </p:pic>
      <p:sp>
        <p:nvSpPr>
          <p:cNvPr id="60" name="Shape 22">
            <a:extLst>
              <a:ext uri="{FF2B5EF4-FFF2-40B4-BE49-F238E27FC236}">
                <a16:creationId xmlns:a16="http://schemas.microsoft.com/office/drawing/2014/main" id="{36E9B470-EC3F-82B6-83F4-299F5500E68B}"/>
              </a:ext>
            </a:extLst>
          </p:cNvPr>
          <p:cNvSpPr/>
          <p:nvPr/>
        </p:nvSpPr>
        <p:spPr>
          <a:xfrm>
            <a:off x="8247888" y="5806440"/>
            <a:ext cx="3108960" cy="256032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D49E3BC0-F900-7879-C205-D36C4E89C25E}"/>
              </a:ext>
            </a:extLst>
          </p:cNvPr>
          <p:cNvSpPr/>
          <p:nvPr/>
        </p:nvSpPr>
        <p:spPr>
          <a:xfrm>
            <a:off x="8339328" y="587502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View reports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02243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4117F-02B5-5E5E-976B-55AAF97F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406549-B99B-54C4-EF00-FF3D05EA2616}"/>
              </a:ext>
            </a:extLst>
          </p:cNvPr>
          <p:cNvSpPr/>
          <p:nvPr/>
        </p:nvSpPr>
        <p:spPr>
          <a:xfrm>
            <a:off x="685800" y="14173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Thanks for listening</a:t>
            </a:r>
          </a:p>
          <a:p>
            <a:pPr marL="0" indent="0" algn="ctr">
              <a:buNone/>
            </a:pPr>
            <a:endParaRPr lang="en-US" sz="3600" b="1" noProof="1">
              <a:solidFill>
                <a:srgbClr val="0B1F3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</a:rPr>
              <a:t>Q&amp;A</a:t>
            </a:r>
            <a:endParaRPr lang="en-US" sz="36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29804E-007E-647E-EA39-FE6000D53D0B}"/>
              </a:ext>
            </a:extLst>
          </p:cNvPr>
          <p:cNvSpPr/>
          <p:nvPr/>
        </p:nvSpPr>
        <p:spPr>
          <a:xfrm>
            <a:off x="685800" y="3685049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SWR302 BRD – GROUP 5</a:t>
            </a:r>
            <a:endParaRPr lang="en-US" sz="2000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322191-609C-5CCC-012B-1776BB662BB0}"/>
              </a:ext>
            </a:extLst>
          </p:cNvPr>
          <p:cNvSpPr/>
          <p:nvPr/>
        </p:nvSpPr>
        <p:spPr>
          <a:xfrm>
            <a:off x="713232" y="553212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Trần Đăng Khoa, Bùi Đình Long</a:t>
            </a:r>
            <a:endParaRPr lang="en-US" sz="1250" b="1" noProof="1"/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Trần Chí Viễn</a:t>
            </a:r>
            <a:endParaRPr lang="en-US" sz="1250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E76E11-B506-6ABF-47A0-2A1064775BAD}"/>
              </a:ext>
            </a:extLst>
          </p:cNvPr>
          <p:cNvSpPr/>
          <p:nvPr/>
        </p:nvSpPr>
        <p:spPr>
          <a:xfrm>
            <a:off x="6720840" y="960120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23930B-1468-E1A7-5CA0-056350161C80}"/>
              </a:ext>
            </a:extLst>
          </p:cNvPr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AB2052-ABA1-428A-FD20-56C0C5E8A309}"/>
              </a:ext>
            </a:extLst>
          </p:cNvPr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539341-B79E-0DD5-E9CC-260A4790AB51}"/>
              </a:ext>
            </a:extLst>
          </p:cNvPr>
          <p:cNvSpPr/>
          <p:nvPr/>
        </p:nvSpPr>
        <p:spPr>
          <a:xfrm>
            <a:off x="713232" y="62636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Gym Management System</a:t>
            </a:r>
            <a:endParaRPr lang="en-US" sz="900" noProof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E6CF45-6665-C424-8F35-DB41702B6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44019"/>
            <a:ext cx="2356685" cy="920580"/>
          </a:xfrm>
          <a:prstGeom prst="rect">
            <a:avLst/>
          </a:prstGeom>
        </p:spPr>
      </p:pic>
      <p:pic>
        <p:nvPicPr>
          <p:cNvPr id="10" name="Picture 9" descr="Gym Management - Ứng dụng trên Google Play">
            <a:extLst>
              <a:ext uri="{FF2B5EF4-FFF2-40B4-BE49-F238E27FC236}">
                <a16:creationId xmlns:a16="http://schemas.microsoft.com/office/drawing/2014/main" id="{94267232-5084-E858-9D74-F09AA2894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040" y="1002030"/>
            <a:ext cx="451866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9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853</Words>
  <Application>Microsoft Office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 Display</vt:lpstr>
      <vt:lpstr>Arial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Smart Parking System with Vehicle Detection and Barrier Control</dc:title>
  <dc:subject>Smart Parking System Presentation</dc:subject>
  <dc:creator>OpenAI</dc:creator>
  <cp:lastModifiedBy>Ryuga Shirakami</cp:lastModifiedBy>
  <cp:revision>692</cp:revision>
  <dcterms:created xsi:type="dcterms:W3CDTF">2026-06-26T06:34:30Z</dcterms:created>
  <dcterms:modified xsi:type="dcterms:W3CDTF">2026-07-22T00:35:58Z</dcterms:modified>
</cp:coreProperties>
</file>